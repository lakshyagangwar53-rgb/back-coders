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96200" y="0"/>
            <a:ext cx="776287" cy="116674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743825" y="0"/>
            <a:ext cx="685800" cy="1095375"/>
          </a:xfrm>
          <a:custGeom>
            <a:avLst/>
            <a:gdLst/>
            <a:ahLst/>
            <a:cxnLst/>
            <a:rect l="l" t="t" r="r" b="b"/>
            <a:pathLst>
              <a:path w="685800" h="1095375">
                <a:moveTo>
                  <a:pt x="685800" y="0"/>
                </a:moveTo>
                <a:lnTo>
                  <a:pt x="0" y="0"/>
                </a:lnTo>
                <a:lnTo>
                  <a:pt x="0" y="1095375"/>
                </a:lnTo>
                <a:lnTo>
                  <a:pt x="685800" y="1095375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3749"/>
            <a:ext cx="8986520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9630" y="3283512"/>
            <a:ext cx="5836920" cy="1735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3084576"/>
            <a:ext cx="9137904" cy="2377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597408"/>
            <a:ext cx="9137904" cy="11216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095" y="1926335"/>
            <a:ext cx="9135110" cy="173990"/>
          </a:xfrm>
          <a:custGeom>
            <a:avLst/>
            <a:gdLst/>
            <a:ahLst/>
            <a:cxnLst/>
            <a:rect l="l" t="t" r="r" b="b"/>
            <a:pathLst>
              <a:path w="9135110" h="173989">
                <a:moveTo>
                  <a:pt x="9134856" y="173736"/>
                </a:moveTo>
                <a:lnTo>
                  <a:pt x="0" y="173736"/>
                </a:lnTo>
                <a:lnTo>
                  <a:pt x="0" y="0"/>
                </a:lnTo>
                <a:lnTo>
                  <a:pt x="9134856" y="0"/>
                </a:lnTo>
                <a:lnTo>
                  <a:pt x="9134856" y="173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48575" y="1856485"/>
            <a:ext cx="343217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  <a:tab pos="1247140" algn="l"/>
                <a:tab pos="2070100" algn="l"/>
                <a:tab pos="3164205" algn="l"/>
              </a:tabLst>
            </a:pPr>
            <a:r>
              <a:rPr sz="16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//</a:t>
            </a:r>
            <a:r>
              <a:rPr sz="165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65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CODE</a:t>
            </a:r>
            <a:r>
              <a:rPr sz="16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165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650" spc="-175" dirty="0">
                <a:solidFill>
                  <a:srgbClr val="8CBF57"/>
                </a:solidFill>
                <a:latin typeface="Lucida Sans Unicode"/>
                <a:cs typeface="Lucida Sans Unicode"/>
              </a:rPr>
              <a:t>ŃAC</a:t>
            </a:r>
            <a:r>
              <a:rPr sz="1650" spc="-295" dirty="0">
                <a:solidFill>
                  <a:srgbClr val="8CBF57"/>
                </a:solidFill>
                <a:latin typeface="Lucida Sans Unicode"/>
                <a:cs typeface="Lucida Sans Unicode"/>
              </a:rPr>
              <a:t> </a:t>
            </a:r>
            <a:r>
              <a:rPr sz="1650" spc="-215" dirty="0">
                <a:solidFill>
                  <a:srgbClr val="8EB85D"/>
                </a:solidFill>
                <a:latin typeface="Lucida Sans Unicode"/>
                <a:cs typeface="Lucida Sans Unicode"/>
              </a:rPr>
              <a:t>lś</a:t>
            </a:r>
            <a:r>
              <a:rPr sz="1650" spc="-105" dirty="0">
                <a:solidFill>
                  <a:srgbClr val="8EB85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165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6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REPEAT</a:t>
            </a:r>
            <a:r>
              <a:rPr sz="16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1650" dirty="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sz="16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//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5" y="2456688"/>
            <a:ext cx="9138285" cy="36830"/>
            <a:chOff x="6095" y="2456688"/>
            <a:chExt cx="9138285" cy="368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" y="2456688"/>
              <a:ext cx="9137904" cy="365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5" y="2456688"/>
              <a:ext cx="9137904" cy="3657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095" y="4760976"/>
            <a:ext cx="9138285" cy="36830"/>
            <a:chOff x="6095" y="4760976"/>
            <a:chExt cx="9138285" cy="3683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5" y="4760976"/>
              <a:ext cx="9137904" cy="365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5" y="4760976"/>
              <a:ext cx="9137904" cy="3657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095" y="5632703"/>
            <a:ext cx="9138285" cy="18415"/>
            <a:chOff x="6095" y="5632703"/>
            <a:chExt cx="9138285" cy="1841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5" y="5632703"/>
              <a:ext cx="9137904" cy="182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" y="5632703"/>
              <a:ext cx="9137904" cy="18287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D660819-B99E-EF93-4FCC-F5B8D90287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18" y="0"/>
            <a:ext cx="92325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5492" y="-162941"/>
            <a:ext cx="7448550" cy="22212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7200" spc="290" dirty="0"/>
              <a:t>Learning</a:t>
            </a:r>
            <a:r>
              <a:rPr sz="7200" spc="-200" dirty="0"/>
              <a:t> </a:t>
            </a:r>
            <a:r>
              <a:rPr sz="7200" spc="305" dirty="0"/>
              <a:t>&amp; </a:t>
            </a:r>
            <a:r>
              <a:rPr sz="7200" dirty="0"/>
              <a:t>Training</a:t>
            </a:r>
            <a:r>
              <a:rPr sz="7200" spc="-15" dirty="0"/>
              <a:t> </a:t>
            </a:r>
            <a:r>
              <a:rPr sz="7200" spc="395" dirty="0"/>
              <a:t>Program</a:t>
            </a:r>
            <a:endParaRPr sz="7200"/>
          </a:p>
        </p:txBody>
      </p:sp>
      <p:sp>
        <p:nvSpPr>
          <p:cNvPr id="3" name="object 3"/>
          <p:cNvSpPr txBox="1"/>
          <p:nvPr/>
        </p:nvSpPr>
        <p:spPr>
          <a:xfrm>
            <a:off x="1323975" y="2195131"/>
            <a:ext cx="4327525" cy="3091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95"/>
              </a:spcBef>
            </a:pP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TEAM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75" dirty="0">
                <a:solidFill>
                  <a:schemeClr val="bg1"/>
                </a:solidFill>
                <a:latin typeface="Tahoma"/>
                <a:cs typeface="Tahoma"/>
              </a:rPr>
              <a:t>LEADER:</a:t>
            </a:r>
            <a:r>
              <a:rPr sz="200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LAKSHYA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GANGWAR </a:t>
            </a: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TEAM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MEMBERS: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231140" indent="-218440">
              <a:lnSpc>
                <a:spcPct val="100000"/>
              </a:lnSpc>
              <a:spcBef>
                <a:spcPts val="980"/>
              </a:spcBef>
              <a:buAutoNum type="arabicPlain"/>
              <a:tabLst>
                <a:tab pos="231140" algn="l"/>
              </a:tabLst>
            </a:pPr>
            <a:r>
              <a:rPr sz="2000" b="1" spc="-165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85" dirty="0">
                <a:solidFill>
                  <a:schemeClr val="bg1"/>
                </a:solidFill>
                <a:latin typeface="Tahoma"/>
                <a:cs typeface="Tahoma"/>
              </a:rPr>
              <a:t>KRISHNA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SHUKLA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231140" indent="-218440">
              <a:lnSpc>
                <a:spcPct val="100000"/>
              </a:lnSpc>
              <a:spcBef>
                <a:spcPts val="980"/>
              </a:spcBef>
              <a:buAutoNum type="arabicPlain"/>
              <a:tabLst>
                <a:tab pos="231140" algn="l"/>
              </a:tabLst>
            </a:pPr>
            <a:r>
              <a:rPr sz="2000" b="1" spc="-160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04" dirty="0">
                <a:solidFill>
                  <a:schemeClr val="bg1"/>
                </a:solidFill>
                <a:latin typeface="Tahoma"/>
                <a:cs typeface="Tahoma"/>
              </a:rPr>
              <a:t>KARTIKEY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PATHAK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231140" indent="-218440">
              <a:lnSpc>
                <a:spcPct val="100000"/>
              </a:lnSpc>
              <a:spcBef>
                <a:spcPts val="1055"/>
              </a:spcBef>
              <a:buAutoNum type="arabicPlain"/>
              <a:tabLst>
                <a:tab pos="231140" algn="l"/>
              </a:tabLst>
            </a:pPr>
            <a:r>
              <a:rPr sz="2000" b="1" spc="-165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MAYANK</a:t>
            </a: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PRAKASH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231140" indent="-218440">
              <a:lnSpc>
                <a:spcPct val="100000"/>
              </a:lnSpc>
              <a:spcBef>
                <a:spcPts val="980"/>
              </a:spcBef>
              <a:buAutoNum type="arabicPlain"/>
              <a:tabLst>
                <a:tab pos="231140" algn="l"/>
              </a:tabLst>
            </a:pPr>
            <a:r>
              <a:rPr sz="2000" b="1" spc="-165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r>
              <a:rPr sz="2000" b="1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LAKSHYA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GANGWAR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231140" indent="-218440">
              <a:lnSpc>
                <a:spcPct val="100000"/>
              </a:lnSpc>
              <a:spcBef>
                <a:spcPts val="975"/>
              </a:spcBef>
              <a:buAutoNum type="arabicPlain"/>
              <a:tabLst>
                <a:tab pos="231140" algn="l"/>
              </a:tabLst>
            </a:pPr>
            <a:r>
              <a:rPr sz="2000" b="1" spc="-165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ANSHUMAN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260" dirty="0"/>
              <a:t>Course</a:t>
            </a:r>
            <a:r>
              <a:rPr spc="-85" dirty="0"/>
              <a:t> </a:t>
            </a:r>
            <a:r>
              <a:rPr spc="204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635881"/>
            <a:ext cx="6235700" cy="35862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5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950" spc="35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4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20" dirty="0">
                <a:solidFill>
                  <a:schemeClr val="bg1"/>
                </a:solidFill>
                <a:latin typeface="Tahoma"/>
                <a:cs typeface="Tahoma"/>
              </a:rPr>
              <a:t>Introduction</a:t>
            </a:r>
            <a:r>
              <a:rPr sz="240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10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2400" b="1" dirty="0">
                <a:solidFill>
                  <a:schemeClr val="bg1"/>
                </a:solidFill>
                <a:latin typeface="Tahoma"/>
                <a:cs typeface="Tahoma"/>
              </a:rPr>
              <a:t> Machine </a:t>
            </a:r>
            <a:r>
              <a:rPr sz="2400" b="1" spc="-85" dirty="0">
                <a:solidFill>
                  <a:schemeClr val="bg1"/>
                </a:solidFill>
                <a:latin typeface="Tahoma"/>
                <a:cs typeface="Tahoma"/>
              </a:rPr>
              <a:t>Learning</a:t>
            </a:r>
            <a:r>
              <a:rPr sz="240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25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400" b="1" spc="-225" dirty="0">
                <a:solidFill>
                  <a:schemeClr val="bg1"/>
                </a:solidFill>
                <a:latin typeface="Tahoma"/>
                <a:cs typeface="Tahoma"/>
              </a:rPr>
              <a:t>its</a:t>
            </a:r>
            <a:r>
              <a:rPr sz="2400" b="1" spc="-10" dirty="0">
                <a:solidFill>
                  <a:schemeClr val="bg1"/>
                </a:solidFill>
                <a:latin typeface="Tahoma"/>
                <a:cs typeface="Tahoma"/>
              </a:rPr>
              <a:t> importance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Learning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objectives</a:t>
            </a:r>
            <a:r>
              <a:rPr sz="200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expected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outcomes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 </a:t>
            </a:r>
            <a:r>
              <a:rPr sz="2000" b="1" spc="-110" dirty="0">
                <a:solidFill>
                  <a:schemeClr val="bg1"/>
                </a:solidFill>
                <a:latin typeface="Tahoma"/>
                <a:cs typeface="Tahoma"/>
              </a:rPr>
              <a:t>Prerequisites: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Basic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Python</a:t>
            </a:r>
            <a:r>
              <a:rPr sz="2000" b="1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Mathematics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Core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machine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learning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concepts: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data,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features,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models,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algorithms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5080" indent="-343535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Hands-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on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practical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exercises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 using 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real-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world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datasets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Final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mini-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project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assessment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135" dirty="0"/>
              <a:t>Basics</a:t>
            </a:r>
            <a:r>
              <a:rPr spc="-120" dirty="0"/>
              <a:t> </a:t>
            </a:r>
            <a:r>
              <a:rPr spc="100" dirty="0"/>
              <a:t>of</a:t>
            </a:r>
            <a:r>
              <a:rPr spc="-105" dirty="0"/>
              <a:t> </a:t>
            </a:r>
            <a:r>
              <a:rPr spc="16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05000"/>
            <a:ext cx="6698615" cy="41203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832485" indent="-343535">
              <a:lnSpc>
                <a:spcPct val="100400"/>
              </a:lnSpc>
              <a:spcBef>
                <a:spcPts val="90"/>
              </a:spcBef>
            </a:pPr>
            <a:r>
              <a:rPr sz="1950" spc="15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950" spc="355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4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14" dirty="0">
                <a:solidFill>
                  <a:schemeClr val="bg1"/>
                </a:solidFill>
                <a:latin typeface="Tahoma"/>
                <a:cs typeface="Tahoma"/>
              </a:rPr>
              <a:t>Python</a:t>
            </a:r>
            <a:r>
              <a:rPr sz="24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65" dirty="0">
                <a:solidFill>
                  <a:schemeClr val="bg1"/>
                </a:solidFill>
                <a:latin typeface="Tahoma"/>
                <a:cs typeface="Tahoma"/>
              </a:rPr>
              <a:t>is</a:t>
            </a:r>
            <a:r>
              <a:rPr sz="24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14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4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chemeClr val="bg1"/>
                </a:solidFill>
                <a:latin typeface="Tahoma"/>
                <a:cs typeface="Tahoma"/>
              </a:rPr>
              <a:t>simple,</a:t>
            </a:r>
            <a:r>
              <a:rPr sz="24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chemeClr val="bg1"/>
                </a:solidFill>
                <a:latin typeface="Tahoma"/>
                <a:cs typeface="Tahoma"/>
              </a:rPr>
              <a:t>readable,</a:t>
            </a:r>
            <a:r>
              <a:rPr sz="24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25" dirty="0">
                <a:solidFill>
                  <a:schemeClr val="bg1"/>
                </a:solidFill>
                <a:latin typeface="Tahoma"/>
                <a:cs typeface="Tahoma"/>
              </a:rPr>
              <a:t>and </a:t>
            </a:r>
            <a:r>
              <a:rPr sz="2400" b="1" spc="-50" dirty="0">
                <a:solidFill>
                  <a:schemeClr val="bg1"/>
                </a:solidFill>
                <a:latin typeface="Tahoma"/>
                <a:cs typeface="Tahoma"/>
              </a:rPr>
              <a:t>beginner-</a:t>
            </a:r>
            <a:r>
              <a:rPr sz="2400" b="1" spc="-100" dirty="0">
                <a:solidFill>
                  <a:schemeClr val="bg1"/>
                </a:solidFill>
                <a:latin typeface="Tahoma"/>
                <a:cs typeface="Tahoma"/>
              </a:rPr>
              <a:t>friendly</a:t>
            </a:r>
            <a:r>
              <a:rPr sz="2400" b="1" spc="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Tahoma"/>
                <a:cs typeface="Tahoma"/>
              </a:rPr>
              <a:t>programming language.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Variables</a:t>
            </a:r>
            <a:r>
              <a:rPr sz="200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types: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integers,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floats,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b="1" spc="-125" dirty="0">
                <a:solidFill>
                  <a:schemeClr val="bg1"/>
                </a:solidFill>
                <a:latin typeface="Tahoma"/>
                <a:cs typeface="Tahoma"/>
              </a:rPr>
              <a:t>strings,</a:t>
            </a:r>
            <a:r>
              <a:rPr sz="2000" b="1" spc="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booleans.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5080" indent="-343535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Control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statements: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chemeClr val="bg1"/>
                </a:solidFill>
                <a:latin typeface="Tahoma"/>
                <a:cs typeface="Tahoma"/>
              </a:rPr>
              <a:t>if-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else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conditions,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loops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(for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while).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Functions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help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organize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reuse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85" dirty="0">
                <a:solidFill>
                  <a:schemeClr val="bg1"/>
                </a:solidFill>
                <a:latin typeface="Tahoma"/>
                <a:cs typeface="Tahoma"/>
              </a:rPr>
              <a:t>code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efficiently.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chemeClr val="bg1"/>
                </a:solidFill>
                <a:latin typeface="Tahoma"/>
                <a:cs typeface="Tahoma"/>
              </a:rPr>
              <a:t>Libraries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such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as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NumPy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Pandas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support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000" b="1" spc="10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analysis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machine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learning.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4197" y="476567"/>
            <a:ext cx="126174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2078989"/>
            <a:ext cx="5498465" cy="764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15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50" spc="28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b="1" spc="-110" dirty="0">
                <a:solidFill>
                  <a:schemeClr val="bg1"/>
                </a:solidFill>
                <a:latin typeface="Tahoma"/>
                <a:cs typeface="Tahoma"/>
              </a:rPr>
              <a:t>Python,</a:t>
            </a:r>
            <a:r>
              <a:rPr sz="24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70" dirty="0">
                <a:solidFill>
                  <a:schemeClr val="bg1"/>
                </a:solidFill>
                <a:latin typeface="Tahoma"/>
                <a:cs typeface="Tahoma"/>
              </a:rPr>
              <a:t>Jupyter</a:t>
            </a:r>
            <a:r>
              <a:rPr sz="24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Tahoma"/>
                <a:cs typeface="Tahoma"/>
              </a:rPr>
              <a:t>Notebook,</a:t>
            </a:r>
            <a:r>
              <a:rPr sz="240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chemeClr val="bg1"/>
                </a:solidFill>
                <a:latin typeface="Tahoma"/>
                <a:cs typeface="Tahoma"/>
              </a:rPr>
              <a:t>NumPy,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400" b="1" spc="-20" dirty="0">
                <a:solidFill>
                  <a:schemeClr val="bg1"/>
                </a:solidFill>
                <a:latin typeface="Tahoma"/>
                <a:cs typeface="Tahoma"/>
              </a:rPr>
              <a:t>Pandas,</a:t>
            </a:r>
            <a:r>
              <a:rPr sz="24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14" dirty="0">
                <a:solidFill>
                  <a:schemeClr val="bg1"/>
                </a:solidFill>
                <a:latin typeface="Tahoma"/>
                <a:cs typeface="Tahoma"/>
              </a:rPr>
              <a:t>Scikit-</a:t>
            </a:r>
            <a:r>
              <a:rPr sz="2400" b="1" spc="-45" dirty="0">
                <a:solidFill>
                  <a:schemeClr val="bg1"/>
                </a:solidFill>
                <a:latin typeface="Tahoma"/>
                <a:cs typeface="Tahoma"/>
              </a:rPr>
              <a:t>learn,</a:t>
            </a:r>
            <a:r>
              <a:rPr sz="24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Tahoma"/>
                <a:cs typeface="Tahoma"/>
              </a:rPr>
              <a:t>Matplotlib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pic>
        <p:nvPicPr>
          <p:cNvPr id="4" name="object 4" descr="image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200400"/>
            <a:ext cx="3600450" cy="2781300"/>
          </a:xfrm>
          <a:prstGeom prst="rect">
            <a:avLst/>
          </a:prstGeom>
        </p:spPr>
      </p:pic>
      <p:pic>
        <p:nvPicPr>
          <p:cNvPr id="5" name="object 5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1025" y="3200400"/>
            <a:ext cx="4562475" cy="2924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4197" y="457580"/>
            <a:ext cx="199453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latin typeface="Calibri"/>
                <a:cs typeface="Calibri"/>
              </a:rPr>
              <a:t>NumPy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Library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856" y="1143000"/>
            <a:ext cx="3649345" cy="3673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240" indent="236854">
              <a:lnSpc>
                <a:spcPct val="101099"/>
              </a:lnSpc>
              <a:spcBef>
                <a:spcPts val="95"/>
              </a:spcBef>
              <a:buChar char="•"/>
              <a:tabLst>
                <a:tab pos="249554" algn="l"/>
              </a:tabLst>
            </a:pPr>
            <a:r>
              <a:rPr sz="2600" b="1" dirty="0">
                <a:solidFill>
                  <a:schemeClr val="bg1"/>
                </a:solidFill>
                <a:latin typeface="Calibri"/>
                <a:cs typeface="Calibri"/>
              </a:rPr>
              <a:t>NumPy</a:t>
            </a:r>
            <a:r>
              <a:rPr sz="2600" b="1" spc="-8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chemeClr val="bg1"/>
                </a:solidFill>
                <a:latin typeface="Calibri"/>
                <a:cs typeface="Calibri"/>
              </a:rPr>
              <a:t>provides</a:t>
            </a:r>
            <a:r>
              <a:rPr sz="26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chemeClr val="bg1"/>
                </a:solidFill>
                <a:latin typeface="Calibri"/>
                <a:cs typeface="Calibri"/>
              </a:rPr>
              <a:t>fast, </a:t>
            </a:r>
            <a:r>
              <a:rPr sz="2600" b="1" spc="-10" dirty="0">
                <a:solidFill>
                  <a:schemeClr val="bg1"/>
                </a:solidFill>
                <a:latin typeface="Calibri"/>
                <a:cs typeface="Calibri"/>
              </a:rPr>
              <a:t>efficient</a:t>
            </a:r>
            <a:r>
              <a:rPr sz="2600" b="1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chemeClr val="bg1"/>
                </a:solidFill>
                <a:latin typeface="Calibri"/>
                <a:cs typeface="Calibri"/>
              </a:rPr>
              <a:t>multidimensional arrays.</a:t>
            </a:r>
            <a:endParaRPr sz="26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5080" indent="217804">
              <a:lnSpc>
                <a:spcPct val="100400"/>
              </a:lnSpc>
              <a:spcBef>
                <a:spcPts val="975"/>
              </a:spcBef>
              <a:buChar char="•"/>
              <a:tabLst>
                <a:tab pos="230504" algn="l"/>
              </a:tabLst>
            </a:pP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It</a:t>
            </a:r>
            <a:r>
              <a:rPr sz="2400" b="1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alibri"/>
                <a:cs typeface="Calibri"/>
              </a:rPr>
              <a:t>offers</a:t>
            </a:r>
            <a:r>
              <a:rPr sz="24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alibri"/>
                <a:cs typeface="Calibri"/>
              </a:rPr>
              <a:t>mathematical, statistical,</a:t>
            </a:r>
            <a:r>
              <a:rPr sz="2400" b="1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2400" b="1" spc="-8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linear</a:t>
            </a:r>
            <a:r>
              <a:rPr sz="2400" b="1" spc="-1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alibri"/>
                <a:cs typeface="Calibri"/>
              </a:rPr>
              <a:t>algebra functions.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marR="217804" indent="217804" algn="just">
              <a:lnSpc>
                <a:spcPct val="99100"/>
              </a:lnSpc>
              <a:spcBef>
                <a:spcPts val="1050"/>
              </a:spcBef>
              <a:buChar char="•"/>
              <a:tabLst>
                <a:tab pos="230504" algn="l"/>
              </a:tabLst>
            </a:pP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NumPy</a:t>
            </a:r>
            <a:r>
              <a:rPr sz="2400" b="1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widely</a:t>
            </a:r>
            <a:r>
              <a:rPr sz="2400" b="1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used</a:t>
            </a:r>
            <a:r>
              <a:rPr sz="2400" b="1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chemeClr val="bg1"/>
                </a:solidFill>
                <a:latin typeface="Calibri"/>
                <a:cs typeface="Calibri"/>
              </a:rPr>
              <a:t>for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data</a:t>
            </a:r>
            <a:r>
              <a:rPr sz="2400" b="1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analysis</a:t>
            </a:r>
            <a:r>
              <a:rPr sz="2400" b="1" spc="-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2400" b="1" spc="-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alibri"/>
                <a:cs typeface="Calibri"/>
              </a:rPr>
              <a:t>machine learning.</a:t>
            </a:r>
            <a:endParaRPr sz="2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" name="object 4" descr="Red-Hacker-Wallpaper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1247775"/>
            <a:ext cx="34290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350" dirty="0"/>
              <a:t>Pandas</a:t>
            </a:r>
            <a:r>
              <a:rPr spc="-50" dirty="0"/>
              <a:t> </a:t>
            </a:r>
            <a:r>
              <a:rPr spc="-10" dirty="0"/>
              <a:t>Library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2088832"/>
            <a:ext cx="6451600" cy="3886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75"/>
              </a:spcBef>
            </a:pPr>
            <a:r>
              <a:rPr sz="1700" spc="16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700" spc="-1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15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Pandas</a:t>
            </a:r>
            <a:r>
              <a:rPr sz="215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55" dirty="0">
                <a:solidFill>
                  <a:schemeClr val="bg1"/>
                </a:solidFill>
                <a:latin typeface="Tahoma"/>
                <a:cs typeface="Tahoma"/>
              </a:rPr>
              <a:t>is</a:t>
            </a:r>
            <a:r>
              <a:rPr sz="215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14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60" dirty="0">
                <a:solidFill>
                  <a:schemeClr val="bg1"/>
                </a:solidFill>
                <a:latin typeface="Tahoma"/>
                <a:cs typeface="Tahoma"/>
              </a:rPr>
              <a:t>powerful </a:t>
            </a:r>
            <a:r>
              <a:rPr sz="2150" b="1" spc="-55" dirty="0">
                <a:solidFill>
                  <a:schemeClr val="bg1"/>
                </a:solidFill>
                <a:latin typeface="Tahoma"/>
                <a:cs typeface="Tahoma"/>
              </a:rPr>
              <a:t>Python</a:t>
            </a:r>
            <a:r>
              <a:rPr sz="21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50" dirty="0">
                <a:solidFill>
                  <a:schemeClr val="bg1"/>
                </a:solidFill>
                <a:latin typeface="Tahoma"/>
                <a:cs typeface="Tahoma"/>
              </a:rPr>
              <a:t>library</a:t>
            </a:r>
            <a:r>
              <a:rPr sz="21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30" dirty="0">
                <a:solidFill>
                  <a:schemeClr val="bg1"/>
                </a:solidFill>
                <a:latin typeface="Tahoma"/>
                <a:cs typeface="Tahoma"/>
              </a:rPr>
              <a:t>for</a:t>
            </a:r>
            <a:r>
              <a:rPr sz="215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20" dirty="0">
                <a:solidFill>
                  <a:schemeClr val="bg1"/>
                </a:solidFill>
                <a:latin typeface="Tahoma"/>
                <a:cs typeface="Tahoma"/>
              </a:rPr>
              <a:t>data </a:t>
            </a:r>
            <a:r>
              <a:rPr sz="2150" b="1" spc="-25" dirty="0">
                <a:solidFill>
                  <a:schemeClr val="bg1"/>
                </a:solidFill>
                <a:latin typeface="Tahoma"/>
                <a:cs typeface="Tahoma"/>
              </a:rPr>
              <a:t>manipulation</a:t>
            </a:r>
            <a:r>
              <a:rPr sz="215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analysis.</a:t>
            </a:r>
            <a:endParaRPr sz="21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599440" indent="-343535">
              <a:lnSpc>
                <a:spcPct val="101800"/>
              </a:lnSpc>
              <a:spcBef>
                <a:spcPts val="1055"/>
              </a:spcBef>
            </a:pPr>
            <a:r>
              <a:rPr sz="1700" spc="16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7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15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34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provides</a:t>
            </a:r>
            <a:r>
              <a:rPr sz="215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15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Frame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80" dirty="0">
                <a:solidFill>
                  <a:schemeClr val="bg1"/>
                </a:solidFill>
                <a:latin typeface="Tahoma"/>
                <a:cs typeface="Tahoma"/>
              </a:rPr>
              <a:t>Series</a:t>
            </a:r>
            <a:r>
              <a:rPr sz="215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20" dirty="0">
                <a:solidFill>
                  <a:schemeClr val="bg1"/>
                </a:solidFill>
                <a:latin typeface="Tahoma"/>
                <a:cs typeface="Tahoma"/>
              </a:rPr>
              <a:t>data </a:t>
            </a:r>
            <a:r>
              <a:rPr sz="2150" b="1" spc="-100" dirty="0">
                <a:solidFill>
                  <a:schemeClr val="bg1"/>
                </a:solidFill>
                <a:latin typeface="Tahoma"/>
                <a:cs typeface="Tahoma"/>
              </a:rPr>
              <a:t>structures</a:t>
            </a:r>
            <a:r>
              <a:rPr sz="215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organize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15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efficiently.</a:t>
            </a:r>
            <a:endParaRPr sz="21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273050" indent="-343535">
              <a:lnSpc>
                <a:spcPct val="101899"/>
              </a:lnSpc>
              <a:spcBef>
                <a:spcPts val="975"/>
              </a:spcBef>
            </a:pPr>
            <a:r>
              <a:rPr sz="1700" spc="16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700" spc="85" dirty="0">
                <a:solidFill>
                  <a:schemeClr val="bg1"/>
                </a:solidFill>
                <a:latin typeface="Lucida Sans Unicode"/>
                <a:cs typeface="Lucida Sans Unicode"/>
              </a:rPr>
              <a:t> 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150" b="1" spc="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Pandas</a:t>
            </a:r>
            <a:r>
              <a:rPr sz="21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makes</a:t>
            </a:r>
            <a:r>
              <a:rPr sz="21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90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1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easy</a:t>
            </a:r>
            <a:r>
              <a:rPr sz="215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2150" b="1" spc="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clean,</a:t>
            </a:r>
            <a:r>
              <a:rPr sz="2150" b="1" spc="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35" dirty="0">
                <a:solidFill>
                  <a:schemeClr val="bg1"/>
                </a:solidFill>
                <a:latin typeface="Tahoma"/>
                <a:cs typeface="Tahoma"/>
              </a:rPr>
              <a:t>filter,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75" dirty="0">
                <a:solidFill>
                  <a:schemeClr val="bg1"/>
                </a:solidFill>
                <a:latin typeface="Tahoma"/>
                <a:cs typeface="Tahoma"/>
              </a:rPr>
              <a:t>sort,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5" dirty="0">
                <a:solidFill>
                  <a:schemeClr val="bg1"/>
                </a:solidFill>
                <a:latin typeface="Tahoma"/>
                <a:cs typeface="Tahoma"/>
              </a:rPr>
              <a:t>transform</a:t>
            </a:r>
            <a:r>
              <a:rPr sz="21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datasets.</a:t>
            </a:r>
            <a:endParaRPr sz="21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14604" indent="-343535">
              <a:lnSpc>
                <a:spcPct val="101899"/>
              </a:lnSpc>
              <a:spcBef>
                <a:spcPts val="1055"/>
              </a:spcBef>
            </a:pPr>
            <a:r>
              <a:rPr sz="1700" spc="16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7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 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150" b="1" spc="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34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1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110" dirty="0">
                <a:solidFill>
                  <a:schemeClr val="bg1"/>
                </a:solidFill>
                <a:latin typeface="Tahoma"/>
                <a:cs typeface="Tahoma"/>
              </a:rPr>
              <a:t>can</a:t>
            </a:r>
            <a:r>
              <a:rPr sz="2150" b="1" spc="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read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35" dirty="0">
                <a:solidFill>
                  <a:schemeClr val="bg1"/>
                </a:solidFill>
                <a:latin typeface="Tahoma"/>
                <a:cs typeface="Tahoma"/>
              </a:rPr>
              <a:t>write</a:t>
            </a:r>
            <a:r>
              <a:rPr sz="2150" b="1" spc="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85" dirty="0">
                <a:solidFill>
                  <a:schemeClr val="bg1"/>
                </a:solidFill>
                <a:latin typeface="Tahoma"/>
                <a:cs typeface="Tahoma"/>
              </a:rPr>
              <a:t>from</a:t>
            </a:r>
            <a:r>
              <a:rPr sz="21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CSV,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Excel, </a:t>
            </a:r>
            <a:r>
              <a:rPr sz="2150" b="1" spc="-80" dirty="0">
                <a:solidFill>
                  <a:schemeClr val="bg1"/>
                </a:solidFill>
                <a:latin typeface="Tahoma"/>
                <a:cs typeface="Tahoma"/>
              </a:rPr>
              <a:t>SQL,</a:t>
            </a:r>
            <a:r>
              <a:rPr sz="215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many</a:t>
            </a:r>
            <a:r>
              <a:rPr sz="215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40" dirty="0">
                <a:solidFill>
                  <a:schemeClr val="bg1"/>
                </a:solidFill>
                <a:latin typeface="Tahoma"/>
                <a:cs typeface="Tahoma"/>
              </a:rPr>
              <a:t>other</a:t>
            </a:r>
            <a:r>
              <a:rPr sz="215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80" dirty="0">
                <a:solidFill>
                  <a:schemeClr val="bg1"/>
                </a:solidFill>
                <a:latin typeface="Tahoma"/>
                <a:cs typeface="Tahoma"/>
              </a:rPr>
              <a:t>file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formats.</a:t>
            </a:r>
            <a:endParaRPr sz="21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415290" indent="-343535">
              <a:lnSpc>
                <a:spcPct val="101899"/>
              </a:lnSpc>
              <a:spcBef>
                <a:spcPts val="1050"/>
              </a:spcBef>
            </a:pPr>
            <a:r>
              <a:rPr sz="1700" spc="16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700" spc="20" dirty="0">
                <a:solidFill>
                  <a:schemeClr val="bg1"/>
                </a:solidFill>
                <a:latin typeface="Lucida Sans Unicode"/>
                <a:cs typeface="Lucida Sans Unicode"/>
              </a:rPr>
              <a:t> 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•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Pandas</a:t>
            </a:r>
            <a:r>
              <a:rPr sz="215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55" dirty="0">
                <a:solidFill>
                  <a:schemeClr val="bg1"/>
                </a:solidFill>
                <a:latin typeface="Tahoma"/>
                <a:cs typeface="Tahoma"/>
              </a:rPr>
              <a:t>is</a:t>
            </a:r>
            <a:r>
              <a:rPr sz="215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widely</a:t>
            </a:r>
            <a:r>
              <a:rPr sz="215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used</a:t>
            </a:r>
            <a:r>
              <a:rPr sz="215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45" dirty="0">
                <a:solidFill>
                  <a:schemeClr val="bg1"/>
                </a:solidFill>
                <a:latin typeface="Tahoma"/>
                <a:cs typeface="Tahoma"/>
              </a:rPr>
              <a:t>in</a:t>
            </a:r>
            <a:r>
              <a:rPr sz="21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15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science, </a:t>
            </a:r>
            <a:r>
              <a:rPr sz="2150" b="1" dirty="0">
                <a:solidFill>
                  <a:schemeClr val="bg1"/>
                </a:solidFill>
                <a:latin typeface="Tahoma"/>
                <a:cs typeface="Tahoma"/>
              </a:rPr>
              <a:t>machine</a:t>
            </a:r>
            <a:r>
              <a:rPr sz="21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20" dirty="0">
                <a:solidFill>
                  <a:schemeClr val="bg1"/>
                </a:solidFill>
                <a:latin typeface="Tahoma"/>
                <a:cs typeface="Tahoma"/>
              </a:rPr>
              <a:t>learning,</a:t>
            </a:r>
            <a:r>
              <a:rPr sz="2150" b="1" spc="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6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60" dirty="0">
                <a:solidFill>
                  <a:schemeClr val="bg1"/>
                </a:solidFill>
                <a:latin typeface="Tahoma"/>
                <a:cs typeface="Tahoma"/>
              </a:rPr>
              <a:t>business</a:t>
            </a:r>
            <a:r>
              <a:rPr sz="21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150" b="1" spc="-10" dirty="0">
                <a:solidFill>
                  <a:schemeClr val="bg1"/>
                </a:solidFill>
                <a:latin typeface="Tahoma"/>
                <a:cs typeface="Tahoma"/>
              </a:rPr>
              <a:t>analytics.</a:t>
            </a:r>
            <a:endParaRPr sz="215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4197" y="476885"/>
            <a:ext cx="6362065" cy="176339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45"/>
              </a:spcBef>
            </a:pPr>
            <a:r>
              <a:rPr sz="3800" spc="310" dirty="0">
                <a:solidFill>
                  <a:srgbClr val="FFFFFF"/>
                </a:solidFill>
              </a:rPr>
              <a:t>Main</a:t>
            </a:r>
            <a:r>
              <a:rPr sz="3800" spc="-7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Topic:</a:t>
            </a:r>
            <a:r>
              <a:rPr sz="3800" spc="-6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To</a:t>
            </a:r>
            <a:r>
              <a:rPr sz="3800" spc="-70" dirty="0">
                <a:solidFill>
                  <a:srgbClr val="FFFFFF"/>
                </a:solidFill>
              </a:rPr>
              <a:t> </a:t>
            </a:r>
            <a:r>
              <a:rPr sz="3800" spc="114" dirty="0">
                <a:solidFill>
                  <a:srgbClr val="FFFFFF"/>
                </a:solidFill>
              </a:rPr>
              <a:t>Analize</a:t>
            </a:r>
            <a:r>
              <a:rPr sz="3800" spc="-50" dirty="0">
                <a:solidFill>
                  <a:srgbClr val="FFFFFF"/>
                </a:solidFill>
              </a:rPr>
              <a:t> </a:t>
            </a:r>
            <a:r>
              <a:rPr sz="3800" spc="-25" dirty="0">
                <a:solidFill>
                  <a:srgbClr val="FFFFFF"/>
                </a:solidFill>
              </a:rPr>
              <a:t>The </a:t>
            </a:r>
            <a:r>
              <a:rPr sz="3800" spc="300" dirty="0">
                <a:solidFill>
                  <a:srgbClr val="FFFFFF"/>
                </a:solidFill>
              </a:rPr>
              <a:t>Death</a:t>
            </a:r>
            <a:r>
              <a:rPr sz="3800" spc="-170" dirty="0">
                <a:solidFill>
                  <a:srgbClr val="FFFFFF"/>
                </a:solidFill>
              </a:rPr>
              <a:t> </a:t>
            </a:r>
            <a:r>
              <a:rPr sz="3800" spc="445" dirty="0">
                <a:solidFill>
                  <a:srgbClr val="FFFFFF"/>
                </a:solidFill>
              </a:rPr>
              <a:t>And</a:t>
            </a:r>
            <a:r>
              <a:rPr sz="3800" spc="-160" dirty="0">
                <a:solidFill>
                  <a:srgbClr val="FFFFFF"/>
                </a:solidFill>
              </a:rPr>
              <a:t> </a:t>
            </a:r>
            <a:r>
              <a:rPr sz="3800" spc="65" dirty="0">
                <a:solidFill>
                  <a:srgbClr val="FFFFFF"/>
                </a:solidFill>
              </a:rPr>
              <a:t>Survive</a:t>
            </a:r>
            <a:r>
              <a:rPr sz="3800" spc="-85" dirty="0">
                <a:solidFill>
                  <a:srgbClr val="FFFFFF"/>
                </a:solidFill>
              </a:rPr>
              <a:t> </a:t>
            </a:r>
            <a:r>
              <a:rPr sz="3800" spc="114" dirty="0">
                <a:solidFill>
                  <a:srgbClr val="FFFFFF"/>
                </a:solidFill>
              </a:rPr>
              <a:t>Ratio</a:t>
            </a:r>
            <a:r>
              <a:rPr sz="3800" spc="-110" dirty="0">
                <a:solidFill>
                  <a:srgbClr val="FFFFFF"/>
                </a:solidFill>
              </a:rPr>
              <a:t> </a:t>
            </a:r>
            <a:r>
              <a:rPr sz="3800" spc="60" dirty="0">
                <a:solidFill>
                  <a:srgbClr val="FFFFFF"/>
                </a:solidFill>
              </a:rPr>
              <a:t>By </a:t>
            </a:r>
            <a:r>
              <a:rPr sz="3800" spc="135" dirty="0">
                <a:solidFill>
                  <a:srgbClr val="FFFFFF"/>
                </a:solidFill>
              </a:rPr>
              <a:t>Python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2266950"/>
            <a:ext cx="6715125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416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5"/>
              </a:spcBef>
            </a:pPr>
            <a:r>
              <a:rPr spc="280" dirty="0"/>
              <a:t>KNN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2231961"/>
            <a:ext cx="8072755" cy="2595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400"/>
              </a:lnSpc>
              <a:spcBef>
                <a:spcPts val="90"/>
              </a:spcBef>
            </a:pPr>
            <a:r>
              <a:rPr sz="1950" spc="15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50" spc="380" dirty="0">
                <a:solidFill>
                  <a:srgbClr val="89D0D5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chemeClr val="bg1"/>
                </a:solidFill>
                <a:latin typeface="Trebuchet MS"/>
                <a:cs typeface="Trebuchet MS"/>
              </a:rPr>
              <a:t>K-</a:t>
            </a:r>
            <a:r>
              <a:rPr sz="2400" spc="85" dirty="0">
                <a:solidFill>
                  <a:schemeClr val="bg1"/>
                </a:solidFill>
                <a:latin typeface="Trebuchet MS"/>
                <a:cs typeface="Trebuchet MS"/>
              </a:rPr>
              <a:t>Nearest</a:t>
            </a:r>
            <a:r>
              <a:rPr sz="2400" spc="-3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20" dirty="0">
                <a:solidFill>
                  <a:schemeClr val="bg1"/>
                </a:solidFill>
                <a:latin typeface="Trebuchet MS"/>
                <a:cs typeface="Trebuchet MS"/>
              </a:rPr>
              <a:t>Neighbours</a:t>
            </a:r>
            <a:r>
              <a:rPr sz="2400" spc="-7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chemeClr val="bg1"/>
                </a:solidFill>
                <a:latin typeface="Trebuchet MS"/>
                <a:cs typeface="Trebuchet MS"/>
              </a:rPr>
              <a:t>(KNN)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chemeClr val="bg1"/>
                </a:solidFill>
                <a:latin typeface="Trebuchet MS"/>
                <a:cs typeface="Trebuchet MS"/>
              </a:rPr>
              <a:t>is</a:t>
            </a:r>
            <a:r>
              <a:rPr sz="240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365" dirty="0">
                <a:solidFill>
                  <a:schemeClr val="bg1"/>
                </a:solidFill>
                <a:latin typeface="Trebuchet MS"/>
                <a:cs typeface="Trebuchet MS"/>
              </a:rPr>
              <a:t>a</a:t>
            </a:r>
            <a:r>
              <a:rPr sz="2400" spc="-1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chemeClr val="bg1"/>
                </a:solidFill>
                <a:latin typeface="Trebuchet MS"/>
                <a:cs typeface="Trebuchet MS"/>
              </a:rPr>
              <a:t>simple,</a:t>
            </a:r>
            <a:r>
              <a:rPr sz="2400" spc="-3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05" dirty="0">
                <a:solidFill>
                  <a:schemeClr val="bg1"/>
                </a:solidFill>
                <a:latin typeface="Trebuchet MS"/>
                <a:cs typeface="Trebuchet MS"/>
              </a:rPr>
              <a:t>non-</a:t>
            </a:r>
            <a:r>
              <a:rPr sz="2400" spc="75" dirty="0">
                <a:solidFill>
                  <a:schemeClr val="bg1"/>
                </a:solidFill>
                <a:latin typeface="Trebuchet MS"/>
                <a:cs typeface="Trebuchet MS"/>
              </a:rPr>
              <a:t>parametric,</a:t>
            </a:r>
            <a:r>
              <a:rPr sz="2400" spc="-9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80" dirty="0">
                <a:solidFill>
                  <a:schemeClr val="bg1"/>
                </a:solidFill>
                <a:latin typeface="Trebuchet MS"/>
                <a:cs typeface="Trebuchet MS"/>
              </a:rPr>
              <a:t>and</a:t>
            </a:r>
            <a:r>
              <a:rPr sz="2400" spc="-9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80" dirty="0">
                <a:solidFill>
                  <a:schemeClr val="bg1"/>
                </a:solidFill>
                <a:latin typeface="Trebuchet MS"/>
                <a:cs typeface="Trebuchet MS"/>
              </a:rPr>
              <a:t>supervised</a:t>
            </a:r>
            <a:r>
              <a:rPr sz="2400" spc="-1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75" dirty="0">
                <a:solidFill>
                  <a:schemeClr val="bg1"/>
                </a:solidFill>
                <a:latin typeface="Trebuchet MS"/>
                <a:cs typeface="Trebuchet MS"/>
              </a:rPr>
              <a:t>machine</a:t>
            </a:r>
            <a:r>
              <a:rPr sz="2400" spc="-8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chemeClr val="bg1"/>
                </a:solidFill>
                <a:latin typeface="Trebuchet MS"/>
                <a:cs typeface="Trebuchet MS"/>
              </a:rPr>
              <a:t>learning </a:t>
            </a:r>
            <a:r>
              <a:rPr sz="2400" spc="65" dirty="0">
                <a:solidFill>
                  <a:schemeClr val="bg1"/>
                </a:solidFill>
                <a:latin typeface="Trebuchet MS"/>
                <a:cs typeface="Trebuchet MS"/>
              </a:rPr>
              <a:t>algorithm</a:t>
            </a:r>
            <a:r>
              <a:rPr sz="2400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60" dirty="0">
                <a:solidFill>
                  <a:schemeClr val="bg1"/>
                </a:solidFill>
                <a:latin typeface="Trebuchet MS"/>
                <a:cs typeface="Trebuchet MS"/>
              </a:rPr>
              <a:t>used</a:t>
            </a:r>
            <a:r>
              <a:rPr sz="2400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Trebuchet MS"/>
                <a:cs typeface="Trebuchet MS"/>
              </a:rPr>
              <a:t>for</a:t>
            </a:r>
            <a:r>
              <a:rPr sz="2400" spc="-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45" dirty="0">
                <a:solidFill>
                  <a:schemeClr val="bg1"/>
                </a:solidFill>
                <a:latin typeface="Trebuchet MS"/>
                <a:cs typeface="Trebuchet MS"/>
              </a:rPr>
              <a:t>both</a:t>
            </a:r>
            <a:r>
              <a:rPr sz="2400" spc="-1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chemeClr val="bg1"/>
                </a:solidFill>
                <a:latin typeface="Trebuchet MS"/>
                <a:cs typeface="Trebuchet MS"/>
              </a:rPr>
              <a:t>classification</a:t>
            </a:r>
            <a:r>
              <a:rPr sz="2400" spc="7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60" dirty="0">
                <a:solidFill>
                  <a:schemeClr val="bg1"/>
                </a:solidFill>
                <a:latin typeface="Trebuchet MS"/>
                <a:cs typeface="Trebuchet MS"/>
              </a:rPr>
              <a:t>and</a:t>
            </a:r>
            <a:r>
              <a:rPr sz="2400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45" dirty="0">
                <a:solidFill>
                  <a:schemeClr val="bg1"/>
                </a:solidFill>
                <a:latin typeface="Trebuchet MS"/>
                <a:cs typeface="Trebuchet MS"/>
              </a:rPr>
              <a:t>regression </a:t>
            </a:r>
            <a:r>
              <a:rPr sz="2400" spc="-20" dirty="0">
                <a:solidFill>
                  <a:schemeClr val="bg1"/>
                </a:solidFill>
                <a:latin typeface="Trebuchet MS"/>
                <a:cs typeface="Trebuchet MS"/>
              </a:rPr>
              <a:t>tasks.</a:t>
            </a:r>
            <a:r>
              <a:rPr sz="2400" spc="-7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chemeClr val="bg1"/>
                </a:solidFill>
                <a:latin typeface="Trebuchet MS"/>
                <a:cs typeface="Trebuchet MS"/>
              </a:rPr>
              <a:t>It</a:t>
            </a:r>
            <a:r>
              <a:rPr sz="2400" spc="-6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20" dirty="0">
                <a:solidFill>
                  <a:schemeClr val="bg1"/>
                </a:solidFill>
                <a:latin typeface="Trebuchet MS"/>
                <a:cs typeface="Trebuchet MS"/>
              </a:rPr>
              <a:t>operates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04" dirty="0">
                <a:solidFill>
                  <a:schemeClr val="bg1"/>
                </a:solidFill>
                <a:latin typeface="Trebuchet MS"/>
                <a:cs typeface="Trebuchet MS"/>
              </a:rPr>
              <a:t>on</a:t>
            </a:r>
            <a:r>
              <a:rPr sz="2400" spc="4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chemeClr val="bg1"/>
                </a:solidFill>
                <a:latin typeface="Trebuchet MS"/>
                <a:cs typeface="Trebuchet MS"/>
              </a:rPr>
              <a:t>the</a:t>
            </a:r>
            <a:r>
              <a:rPr sz="2400" spc="1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55" dirty="0">
                <a:solidFill>
                  <a:schemeClr val="bg1"/>
                </a:solidFill>
                <a:latin typeface="Trebuchet MS"/>
                <a:cs typeface="Trebuchet MS"/>
              </a:rPr>
              <a:t>core</a:t>
            </a:r>
            <a:r>
              <a:rPr sz="2400" spc="1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chemeClr val="bg1"/>
                </a:solidFill>
                <a:latin typeface="Trebuchet MS"/>
                <a:cs typeface="Trebuchet MS"/>
              </a:rPr>
              <a:t>principle</a:t>
            </a:r>
            <a:r>
              <a:rPr sz="2400" spc="1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chemeClr val="bg1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Trebuchet MS"/>
                <a:cs typeface="Trebuchet MS"/>
              </a:rPr>
              <a:t>proximity </a:t>
            </a:r>
            <a:r>
              <a:rPr sz="2400" spc="260" dirty="0">
                <a:solidFill>
                  <a:schemeClr val="bg1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chemeClr val="bg1"/>
                </a:solidFill>
                <a:latin typeface="Trebuchet MS"/>
                <a:cs typeface="Trebuchet MS"/>
              </a:rPr>
              <a:t>similarity,</a:t>
            </a:r>
            <a:r>
              <a:rPr sz="2400" spc="-10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55" dirty="0">
                <a:solidFill>
                  <a:schemeClr val="bg1"/>
                </a:solidFill>
                <a:latin typeface="Trebuchet MS"/>
                <a:cs typeface="Trebuchet MS"/>
              </a:rPr>
              <a:t>making</a:t>
            </a:r>
            <a:r>
              <a:rPr sz="2400" spc="-8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chemeClr val="bg1"/>
                </a:solidFill>
                <a:latin typeface="Trebuchet MS"/>
                <a:cs typeface="Trebuchet MS"/>
              </a:rPr>
              <a:t>predictions</a:t>
            </a:r>
            <a:r>
              <a:rPr sz="2400" spc="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80" dirty="0">
                <a:solidFill>
                  <a:schemeClr val="bg1"/>
                </a:solidFill>
                <a:latin typeface="Trebuchet MS"/>
                <a:cs typeface="Trebuchet MS"/>
              </a:rPr>
              <a:t>about</a:t>
            </a:r>
            <a:r>
              <a:rPr sz="2400" spc="-10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375" dirty="0">
                <a:solidFill>
                  <a:schemeClr val="bg1"/>
                </a:solidFill>
                <a:latin typeface="Trebuchet MS"/>
                <a:cs typeface="Trebuchet MS"/>
              </a:rPr>
              <a:t>a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85" dirty="0">
                <a:solidFill>
                  <a:schemeClr val="bg1"/>
                </a:solidFill>
                <a:latin typeface="Trebuchet MS"/>
                <a:cs typeface="Trebuchet MS"/>
              </a:rPr>
              <a:t>new</a:t>
            </a:r>
            <a:r>
              <a:rPr sz="2400" spc="-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10" dirty="0">
                <a:solidFill>
                  <a:schemeClr val="bg1"/>
                </a:solidFill>
                <a:latin typeface="Trebuchet MS"/>
                <a:cs typeface="Trebuchet MS"/>
              </a:rPr>
              <a:t>data </a:t>
            </a:r>
            <a:r>
              <a:rPr sz="2400" spc="75" dirty="0">
                <a:solidFill>
                  <a:schemeClr val="bg1"/>
                </a:solidFill>
                <a:latin typeface="Trebuchet MS"/>
                <a:cs typeface="Trebuchet MS"/>
              </a:rPr>
              <a:t>point</a:t>
            </a:r>
            <a:r>
              <a:rPr sz="2400" spc="-1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29" dirty="0">
                <a:solidFill>
                  <a:schemeClr val="bg1"/>
                </a:solidFill>
                <a:latin typeface="Trebuchet MS"/>
                <a:cs typeface="Trebuchet MS"/>
              </a:rPr>
              <a:t>based</a:t>
            </a:r>
            <a:r>
              <a:rPr sz="2400" spc="-3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204" dirty="0">
                <a:solidFill>
                  <a:schemeClr val="bg1"/>
                </a:solidFill>
                <a:latin typeface="Trebuchet MS"/>
                <a:cs typeface="Trebuchet MS"/>
              </a:rPr>
              <a:t>on</a:t>
            </a:r>
            <a:r>
              <a:rPr sz="2400" spc="-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chemeClr val="bg1"/>
                </a:solidFill>
                <a:latin typeface="Trebuchet MS"/>
                <a:cs typeface="Trebuchet MS"/>
              </a:rPr>
              <a:t>the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chemeClr val="bg1"/>
                </a:solidFill>
                <a:latin typeface="Trebuchet MS"/>
                <a:cs typeface="Trebuchet MS"/>
              </a:rPr>
              <a:t>characteristics</a:t>
            </a:r>
            <a:r>
              <a:rPr sz="2400" spc="-7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75" dirty="0">
                <a:solidFill>
                  <a:schemeClr val="bg1"/>
                </a:solidFill>
                <a:latin typeface="Trebuchet MS"/>
                <a:cs typeface="Trebuchet MS"/>
              </a:rPr>
              <a:t>of</a:t>
            </a:r>
            <a:r>
              <a:rPr sz="2400" spc="-5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65" dirty="0">
                <a:solidFill>
                  <a:schemeClr val="bg1"/>
                </a:solidFill>
                <a:latin typeface="Trebuchet MS"/>
                <a:cs typeface="Trebuchet MS"/>
              </a:rPr>
              <a:t>the</a:t>
            </a:r>
            <a:r>
              <a:rPr sz="2400" spc="-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135" dirty="0">
                <a:solidFill>
                  <a:schemeClr val="bg1"/>
                </a:solidFill>
                <a:latin typeface="Trebuchet MS"/>
                <a:cs typeface="Trebuchet MS"/>
              </a:rPr>
              <a:t>known </a:t>
            </a:r>
            <a:r>
              <a:rPr sz="2400" spc="225" dirty="0">
                <a:solidFill>
                  <a:schemeClr val="bg1"/>
                </a:solidFill>
                <a:latin typeface="Trebuchet MS"/>
                <a:cs typeface="Trebuchet MS"/>
              </a:rPr>
              <a:t>data</a:t>
            </a:r>
            <a:r>
              <a:rPr sz="2400" spc="-1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chemeClr val="bg1"/>
                </a:solidFill>
                <a:latin typeface="Trebuchet MS"/>
                <a:cs typeface="Trebuchet MS"/>
              </a:rPr>
              <a:t>points</a:t>
            </a:r>
            <a:r>
              <a:rPr sz="2400" spc="-8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chemeClr val="bg1"/>
                </a:solidFill>
                <a:latin typeface="Trebuchet MS"/>
                <a:cs typeface="Trebuchet MS"/>
              </a:rPr>
              <a:t>closest</a:t>
            </a:r>
            <a:r>
              <a:rPr sz="2400" spc="-3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70" dirty="0">
                <a:solidFill>
                  <a:schemeClr val="bg1"/>
                </a:solidFill>
                <a:latin typeface="Trebuchet MS"/>
                <a:cs typeface="Trebuchet MS"/>
              </a:rPr>
              <a:t>to</a:t>
            </a:r>
            <a:r>
              <a:rPr sz="2400" spc="-114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Trebuchet MS"/>
                <a:cs typeface="Trebuchet MS"/>
              </a:rPr>
              <a:t>it.</a:t>
            </a:r>
            <a:endParaRPr sz="2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310" dirty="0"/>
              <a:t>How</a:t>
            </a:r>
            <a:r>
              <a:rPr spc="-114" dirty="0"/>
              <a:t> </a:t>
            </a:r>
            <a:r>
              <a:rPr spc="320" dirty="0"/>
              <a:t>KNN</a:t>
            </a:r>
            <a:r>
              <a:rPr spc="-105" dirty="0"/>
              <a:t> </a:t>
            </a:r>
            <a:r>
              <a:rPr spc="6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2079307"/>
            <a:ext cx="6191250" cy="2910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000" b="1" spc="-125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algorithm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does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not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build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mathematical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model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during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training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phase.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Instead,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9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stores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entire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dataset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performs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computations 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only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when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you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ask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9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make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prediction.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Concepts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83820" indent="-343535">
              <a:lnSpc>
                <a:spcPct val="1000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K-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Nearest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Neighbors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(KNN)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algorithm,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Titanic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dataset,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preprocessing,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feature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selection, 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train-</a:t>
            </a:r>
            <a:r>
              <a:rPr sz="2000" b="1" spc="-135" dirty="0">
                <a:solidFill>
                  <a:schemeClr val="bg1"/>
                </a:solidFill>
                <a:latin typeface="Tahoma"/>
                <a:cs typeface="Tahoma"/>
              </a:rPr>
              <a:t>test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10" dirty="0">
                <a:solidFill>
                  <a:schemeClr val="bg1"/>
                </a:solidFill>
                <a:latin typeface="Tahoma"/>
                <a:cs typeface="Tahoma"/>
              </a:rPr>
              <a:t>split,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model</a:t>
            </a:r>
            <a:r>
              <a:rPr sz="200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training,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prediction, </a:t>
            </a:r>
            <a:r>
              <a:rPr sz="2000" b="1" spc="75" dirty="0">
                <a:solidFill>
                  <a:schemeClr val="bg1"/>
                </a:solidFill>
                <a:latin typeface="Tahoma"/>
                <a:cs typeface="Tahoma"/>
              </a:rPr>
              <a:t>accuracy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evaluation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dirty="0"/>
              <a:t>Pros</a:t>
            </a:r>
            <a:r>
              <a:rPr spc="-35" dirty="0"/>
              <a:t> </a:t>
            </a:r>
            <a:r>
              <a:rPr spc="459" dirty="0"/>
              <a:t>and</a:t>
            </a:r>
            <a:r>
              <a:rPr spc="5" dirty="0"/>
              <a:t> </a:t>
            </a:r>
            <a:r>
              <a:rPr spc="380" dirty="0"/>
              <a:t>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1965134"/>
            <a:ext cx="6269355" cy="392620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Advantages</a:t>
            </a:r>
            <a:r>
              <a:rPr sz="1850" b="1" spc="2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22225" indent="-343535">
              <a:lnSpc>
                <a:spcPts val="1880"/>
              </a:lnSpc>
              <a:spcBef>
                <a:spcPts val="905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Extremely</a:t>
            </a:r>
            <a:r>
              <a:rPr sz="185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easy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understand</a:t>
            </a:r>
            <a:r>
              <a:rPr sz="185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implement.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-</a:t>
            </a:r>
            <a:r>
              <a:rPr sz="1850" b="1" spc="-25" dirty="0">
                <a:solidFill>
                  <a:schemeClr val="bg1"/>
                </a:solidFill>
                <a:latin typeface="Tahoma"/>
                <a:cs typeface="Tahoma"/>
              </a:rPr>
              <a:t>No </a:t>
            </a:r>
            <a:r>
              <a:rPr sz="1850" b="1" spc="-55" dirty="0">
                <a:solidFill>
                  <a:schemeClr val="bg1"/>
                </a:solidFill>
                <a:latin typeface="Tahoma"/>
                <a:cs typeface="Tahoma"/>
              </a:rPr>
              <a:t>training</a:t>
            </a:r>
            <a:r>
              <a:rPr sz="185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time</a:t>
            </a:r>
            <a:r>
              <a:rPr sz="185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required.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1850" b="1" spc="-40" dirty="0">
                <a:solidFill>
                  <a:schemeClr val="bg1"/>
                </a:solidFill>
                <a:latin typeface="Tahoma"/>
                <a:cs typeface="Tahoma"/>
              </a:rPr>
              <a:t>Highly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versatile</a:t>
            </a:r>
            <a:r>
              <a:rPr sz="1850" b="1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85" dirty="0">
                <a:solidFill>
                  <a:schemeClr val="bg1"/>
                </a:solidFill>
                <a:latin typeface="Tahoma"/>
                <a:cs typeface="Tahoma"/>
              </a:rPr>
              <a:t>for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85" dirty="0">
                <a:solidFill>
                  <a:schemeClr val="bg1"/>
                </a:solidFill>
                <a:latin typeface="Tahoma"/>
                <a:cs typeface="Tahoma"/>
              </a:rPr>
              <a:t>multi-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class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data.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Disadvantages</a:t>
            </a:r>
            <a:r>
              <a:rPr sz="185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: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67945" indent="-343535">
              <a:lnSpc>
                <a:spcPts val="1800"/>
              </a:lnSpc>
              <a:spcBef>
                <a:spcPts val="1045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1850" b="1" spc="-75" dirty="0">
                <a:solidFill>
                  <a:schemeClr val="bg1"/>
                </a:solidFill>
                <a:latin typeface="Tahoma"/>
                <a:cs typeface="Tahoma"/>
              </a:rPr>
              <a:t>Slow</a:t>
            </a:r>
            <a:r>
              <a:rPr sz="1850" b="1" spc="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85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computationally</a:t>
            </a:r>
            <a:r>
              <a:rPr sz="185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expensive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5" dirty="0">
                <a:solidFill>
                  <a:schemeClr val="bg1"/>
                </a:solidFill>
                <a:latin typeface="Tahoma"/>
                <a:cs typeface="Tahoma"/>
              </a:rPr>
              <a:t>with</a:t>
            </a:r>
            <a:r>
              <a:rPr sz="1850" b="1" spc="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large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datasets,</a:t>
            </a:r>
            <a:r>
              <a:rPr sz="185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as</a:t>
            </a:r>
            <a:r>
              <a:rPr sz="185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60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185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scans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1850" b="1" spc="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whole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database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85" dirty="0">
                <a:solidFill>
                  <a:schemeClr val="bg1"/>
                </a:solidFill>
                <a:latin typeface="Tahoma"/>
                <a:cs typeface="Tahoma"/>
              </a:rPr>
              <a:t>for</a:t>
            </a:r>
            <a:r>
              <a:rPr sz="185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every prediction.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501015" indent="-343535">
              <a:lnSpc>
                <a:spcPts val="18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Requires</a:t>
            </a:r>
            <a:r>
              <a:rPr sz="185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high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memory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usage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65" dirty="0">
                <a:solidFill>
                  <a:schemeClr val="bg1"/>
                </a:solidFill>
                <a:latin typeface="Tahoma"/>
                <a:cs typeface="Tahoma"/>
              </a:rPr>
              <a:t>store</a:t>
            </a:r>
            <a:r>
              <a:rPr sz="185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all</a:t>
            </a:r>
            <a:r>
              <a:rPr sz="185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of</a:t>
            </a:r>
            <a:r>
              <a:rPr sz="185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5" dirty="0">
                <a:solidFill>
                  <a:schemeClr val="bg1"/>
                </a:solidFill>
                <a:latin typeface="Tahoma"/>
                <a:cs typeface="Tahoma"/>
              </a:rPr>
              <a:t>the </a:t>
            </a:r>
            <a:r>
              <a:rPr sz="1850" b="1" spc="-55" dirty="0">
                <a:solidFill>
                  <a:schemeClr val="bg1"/>
                </a:solidFill>
                <a:latin typeface="Tahoma"/>
                <a:cs typeface="Tahoma"/>
              </a:rPr>
              <a:t>training</a:t>
            </a:r>
            <a:r>
              <a:rPr sz="185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data.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 marR="5080" indent="-343535">
              <a:lnSpc>
                <a:spcPct val="82900"/>
              </a:lnSpc>
              <a:spcBef>
                <a:spcPts val="1025"/>
              </a:spcBef>
              <a:tabLst>
                <a:tab pos="423545" algn="l"/>
              </a:tabLst>
            </a:pPr>
            <a:r>
              <a:rPr sz="1500" spc="80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chemeClr val="bg1"/>
                </a:solidFill>
                <a:latin typeface="Lucida Sans Unicode"/>
                <a:cs typeface="Lucida Sans Unicode"/>
              </a:rPr>
              <a:t>		</a:t>
            </a:r>
            <a:r>
              <a:rPr sz="1850" b="1" spc="-120" dirty="0">
                <a:solidFill>
                  <a:schemeClr val="bg1"/>
                </a:solidFill>
                <a:latin typeface="Tahoma"/>
                <a:cs typeface="Tahoma"/>
              </a:rPr>
              <a:t>Suffers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45" dirty="0">
                <a:solidFill>
                  <a:schemeClr val="bg1"/>
                </a:solidFill>
                <a:latin typeface="Tahoma"/>
                <a:cs typeface="Tahoma"/>
              </a:rPr>
              <a:t>from</a:t>
            </a:r>
            <a:r>
              <a:rPr sz="1850" b="1" spc="-9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1850" b="1" spc="-9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curse</a:t>
            </a:r>
            <a:r>
              <a:rPr sz="185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of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 dimensionality;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performance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drops</a:t>
            </a:r>
            <a:r>
              <a:rPr sz="1850" b="1" spc="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significantly</a:t>
            </a:r>
            <a:r>
              <a:rPr sz="185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when</a:t>
            </a:r>
            <a:r>
              <a:rPr sz="185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dealing</a:t>
            </a:r>
            <a:r>
              <a:rPr sz="185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50" dirty="0">
                <a:solidFill>
                  <a:schemeClr val="bg1"/>
                </a:solidFill>
                <a:latin typeface="Tahoma"/>
                <a:cs typeface="Tahoma"/>
              </a:rPr>
              <a:t>with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too</a:t>
            </a:r>
            <a:r>
              <a:rPr sz="185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dirty="0">
                <a:solidFill>
                  <a:schemeClr val="bg1"/>
                </a:solidFill>
                <a:latin typeface="Tahoma"/>
                <a:cs typeface="Tahoma"/>
              </a:rPr>
              <a:t>many</a:t>
            </a:r>
            <a:r>
              <a:rPr sz="1850" b="1" spc="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chemeClr val="bg1"/>
                </a:solidFill>
                <a:latin typeface="Tahoma"/>
                <a:cs typeface="Tahoma"/>
              </a:rPr>
              <a:t>features.</a:t>
            </a:r>
            <a:endParaRPr sz="185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4197" y="476567"/>
            <a:ext cx="5904230" cy="1306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310" dirty="0"/>
              <a:t>How</a:t>
            </a:r>
            <a:r>
              <a:rPr spc="-114" dirty="0"/>
              <a:t> </a:t>
            </a:r>
            <a:r>
              <a:rPr spc="320" dirty="0"/>
              <a:t>KNN</a:t>
            </a:r>
            <a:r>
              <a:rPr spc="-100" dirty="0"/>
              <a:t> </a:t>
            </a:r>
            <a:r>
              <a:rPr spc="70" dirty="0"/>
              <a:t>Works</a:t>
            </a:r>
            <a:r>
              <a:rPr spc="-125" dirty="0"/>
              <a:t> </a:t>
            </a:r>
            <a:r>
              <a:rPr spc="380" dirty="0"/>
              <a:t>on</a:t>
            </a:r>
            <a:r>
              <a:rPr spc="-75" dirty="0"/>
              <a:t> </a:t>
            </a:r>
            <a:r>
              <a:rPr spc="110" dirty="0"/>
              <a:t>the </a:t>
            </a:r>
            <a:r>
              <a:rPr dirty="0"/>
              <a:t>Titanic</a:t>
            </a:r>
            <a:r>
              <a:rPr spc="-235" dirty="0"/>
              <a:t> </a:t>
            </a:r>
            <a:r>
              <a:rPr spc="229" dirty="0"/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2079307"/>
            <a:ext cx="6463665" cy="24714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000" b="1" spc="-125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KNN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algorithm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chemeClr val="bg1"/>
                </a:solidFill>
                <a:latin typeface="Tahoma"/>
                <a:cs typeface="Tahoma"/>
              </a:rPr>
              <a:t>is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supervised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classification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method.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Instead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of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building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complex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mathematical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formula,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60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memorizes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training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data.</a:t>
            </a:r>
            <a:r>
              <a:rPr sz="2000" b="1" spc="-1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When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9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sees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130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new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passenger,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95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looks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at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45" dirty="0">
                <a:solidFill>
                  <a:schemeClr val="bg1"/>
                </a:solidFill>
                <a:latin typeface="Tahoma"/>
                <a:cs typeface="Tahoma"/>
              </a:rPr>
              <a:t>K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closest, </a:t>
            </a:r>
            <a:r>
              <a:rPr sz="2000" b="1" spc="-100" dirty="0">
                <a:solidFill>
                  <a:schemeClr val="bg1"/>
                </a:solidFill>
                <a:latin typeface="Tahoma"/>
                <a:cs typeface="Tahoma"/>
              </a:rPr>
              <a:t>most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similar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chemeClr val="bg1"/>
                </a:solidFill>
                <a:latin typeface="Tahoma"/>
                <a:cs typeface="Tahoma"/>
              </a:rPr>
              <a:t>passengers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in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the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dataset.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40" dirty="0">
                <a:solidFill>
                  <a:schemeClr val="bg1"/>
                </a:solidFill>
                <a:latin typeface="Tahoma"/>
                <a:cs typeface="Tahoma"/>
              </a:rPr>
              <a:t>It</a:t>
            </a:r>
            <a:r>
              <a:rPr sz="200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then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 assigns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0" dirty="0">
                <a:solidFill>
                  <a:schemeClr val="bg1"/>
                </a:solidFill>
                <a:latin typeface="Tahoma"/>
                <a:cs typeface="Tahoma"/>
              </a:rPr>
              <a:t>most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common</a:t>
            </a:r>
            <a:r>
              <a:rPr sz="2000" b="1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survival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outcome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among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chemeClr val="bg1"/>
                </a:solidFill>
                <a:latin typeface="Tahoma"/>
                <a:cs typeface="Tahoma"/>
              </a:rPr>
              <a:t>those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neighbors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to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new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passenger</a:t>
            </a:r>
            <a:r>
              <a:rPr sz="2000" b="1" spc="-10" dirty="0">
                <a:solidFill>
                  <a:srgbClr val="171717"/>
                </a:solidFill>
                <a:latin typeface="Tahoma"/>
                <a:cs typeface="Tahoma"/>
              </a:rPr>
              <a:t>.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Steps</a:t>
            </a:r>
            <a:r>
              <a:rPr spc="-50" dirty="0"/>
              <a:t> </a:t>
            </a:r>
            <a:r>
              <a:rPr spc="175" dirty="0"/>
              <a:t>include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414" y="1949513"/>
            <a:ext cx="5911850" cy="3404778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Loading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Titanic</a:t>
            </a:r>
            <a:r>
              <a:rPr sz="2000" b="1" spc="-8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dataset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Preprocessing</a:t>
            </a:r>
            <a:r>
              <a:rPr sz="2000" b="1" spc="-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(handling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missing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 values,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encoding</a:t>
            </a:r>
            <a:r>
              <a:rPr sz="2000" b="1" spc="9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categorical</a:t>
            </a:r>
            <a:r>
              <a:rPr sz="2000" b="1" spc="1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variables)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Selecting</a:t>
            </a:r>
            <a:r>
              <a:rPr sz="2000" b="1" spc="-8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features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120" dirty="0">
                <a:solidFill>
                  <a:schemeClr val="bg1"/>
                </a:solidFill>
                <a:latin typeface="Tahoma"/>
                <a:cs typeface="Tahoma"/>
              </a:rPr>
              <a:t>Splitting</a:t>
            </a:r>
            <a:r>
              <a:rPr sz="200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data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into</a:t>
            </a:r>
            <a:r>
              <a:rPr sz="2000" b="1" spc="-2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90" dirty="0">
                <a:solidFill>
                  <a:schemeClr val="bg1"/>
                </a:solidFill>
                <a:latin typeface="Tahoma"/>
                <a:cs typeface="Tahoma"/>
              </a:rPr>
              <a:t>training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2000" b="1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0" dirty="0">
                <a:solidFill>
                  <a:schemeClr val="bg1"/>
                </a:solidFill>
                <a:latin typeface="Tahoma"/>
                <a:cs typeface="Tahoma"/>
              </a:rPr>
              <a:t>testing</a:t>
            </a:r>
            <a:r>
              <a:rPr sz="2000" b="1" spc="1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chemeClr val="bg1"/>
                </a:solidFill>
                <a:latin typeface="Tahoma"/>
                <a:cs typeface="Tahoma"/>
              </a:rPr>
              <a:t>sets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35560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114" dirty="0">
                <a:solidFill>
                  <a:schemeClr val="bg1"/>
                </a:solidFill>
                <a:latin typeface="Tahoma"/>
                <a:cs typeface="Tahoma"/>
              </a:rPr>
              <a:t>Training</a:t>
            </a:r>
            <a:r>
              <a:rPr sz="2000" b="1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chemeClr val="bg1"/>
                </a:solidFill>
                <a:latin typeface="Tahoma"/>
                <a:cs typeface="Tahoma"/>
              </a:rPr>
              <a:t>KNN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model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42672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1"/>
                </a:solidFill>
                <a:latin typeface="Tahoma"/>
                <a:cs typeface="Tahoma"/>
              </a:rPr>
              <a:t>Making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chemeClr val="bg1"/>
                </a:solidFill>
                <a:latin typeface="Tahoma"/>
                <a:cs typeface="Tahoma"/>
              </a:rPr>
              <a:t>predictions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426720" algn="l"/>
              </a:tabLst>
            </a:pPr>
            <a:r>
              <a:rPr sz="1550" spc="95" dirty="0">
                <a:solidFill>
                  <a:schemeClr val="bg1"/>
                </a:solidFill>
                <a:latin typeface="Lucida Sans Unicode"/>
                <a:cs typeface="Lucida Sans Unicode"/>
              </a:rPr>
              <a:t>▶</a:t>
            </a:r>
            <a:r>
              <a:rPr sz="1550" dirty="0">
                <a:solidFill>
                  <a:schemeClr val="bg1"/>
                </a:solidFill>
                <a:latin typeface="Lucida Sans Unicode"/>
                <a:cs typeface="Lucida Sans Unicode"/>
              </a:rPr>
              <a:t>	</a:t>
            </a:r>
            <a:r>
              <a:rPr sz="2000" b="1" spc="-55" dirty="0">
                <a:solidFill>
                  <a:schemeClr val="bg1"/>
                </a:solidFill>
                <a:latin typeface="Tahoma"/>
                <a:cs typeface="Tahoma"/>
              </a:rPr>
              <a:t>Evaluating</a:t>
            </a:r>
            <a:r>
              <a:rPr sz="2000" b="1" spc="-9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2000" b="1" spc="-10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chemeClr val="bg1"/>
                </a:solidFill>
                <a:latin typeface="Tahoma"/>
                <a:cs typeface="Tahoma"/>
              </a:rPr>
              <a:t>model's</a:t>
            </a:r>
            <a:r>
              <a:rPr sz="2000" b="1" spc="-6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000" b="1" spc="55" dirty="0">
                <a:solidFill>
                  <a:schemeClr val="bg1"/>
                </a:solidFill>
                <a:latin typeface="Tahoma"/>
                <a:cs typeface="Tahoma"/>
              </a:rPr>
              <a:t>accuracy</a:t>
            </a:r>
            <a:endParaRPr sz="2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3749"/>
            <a:ext cx="417639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60" dirty="0"/>
              <a:t>CODE</a:t>
            </a:r>
            <a:r>
              <a:rPr spc="-130" dirty="0"/>
              <a:t> </a:t>
            </a:r>
            <a:r>
              <a:rPr spc="245" dirty="0"/>
              <a:t>FOR</a:t>
            </a:r>
            <a:r>
              <a:rPr spc="-55" dirty="0"/>
              <a:t> </a:t>
            </a:r>
            <a:r>
              <a:rPr spc="560" dirty="0"/>
              <a:t>CNN</a:t>
            </a:r>
          </a:p>
        </p:txBody>
      </p:sp>
      <p:sp>
        <p:nvSpPr>
          <p:cNvPr id="3" name="object 3"/>
          <p:cNvSpPr/>
          <p:nvPr/>
        </p:nvSpPr>
        <p:spPr>
          <a:xfrm>
            <a:off x="2946" y="2177795"/>
            <a:ext cx="5943600" cy="209550"/>
          </a:xfrm>
          <a:custGeom>
            <a:avLst/>
            <a:gdLst/>
            <a:ahLst/>
            <a:cxnLst/>
            <a:rect l="l" t="t" r="r" b="b"/>
            <a:pathLst>
              <a:path w="5943600" h="209550">
                <a:moveTo>
                  <a:pt x="5943574" y="0"/>
                </a:moveTo>
                <a:lnTo>
                  <a:pt x="5943574" y="0"/>
                </a:lnTo>
                <a:lnTo>
                  <a:pt x="0" y="0"/>
                </a:lnTo>
                <a:lnTo>
                  <a:pt x="0" y="209550"/>
                </a:lnTo>
                <a:lnTo>
                  <a:pt x="5943574" y="209550"/>
                </a:lnTo>
                <a:lnTo>
                  <a:pt x="594357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6" y="3416045"/>
            <a:ext cx="6172200" cy="209550"/>
          </a:xfrm>
          <a:custGeom>
            <a:avLst/>
            <a:gdLst/>
            <a:ahLst/>
            <a:cxnLst/>
            <a:rect l="l" t="t" r="r" b="b"/>
            <a:pathLst>
              <a:path w="6172200" h="209550">
                <a:moveTo>
                  <a:pt x="6172174" y="0"/>
                </a:moveTo>
                <a:lnTo>
                  <a:pt x="6172174" y="0"/>
                </a:lnTo>
                <a:lnTo>
                  <a:pt x="0" y="0"/>
                </a:lnTo>
                <a:lnTo>
                  <a:pt x="0" y="209550"/>
                </a:lnTo>
                <a:lnTo>
                  <a:pt x="6172174" y="209550"/>
                </a:lnTo>
                <a:lnTo>
                  <a:pt x="617217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6" y="4844795"/>
            <a:ext cx="6515100" cy="209550"/>
          </a:xfrm>
          <a:custGeom>
            <a:avLst/>
            <a:gdLst/>
            <a:ahLst/>
            <a:cxnLst/>
            <a:rect l="l" t="t" r="r" b="b"/>
            <a:pathLst>
              <a:path w="6515100" h="209550">
                <a:moveTo>
                  <a:pt x="6515074" y="0"/>
                </a:moveTo>
                <a:lnTo>
                  <a:pt x="6515074" y="0"/>
                </a:lnTo>
                <a:lnTo>
                  <a:pt x="0" y="0"/>
                </a:lnTo>
                <a:lnTo>
                  <a:pt x="0" y="209550"/>
                </a:lnTo>
                <a:lnTo>
                  <a:pt x="6515074" y="209550"/>
                </a:lnTo>
                <a:lnTo>
                  <a:pt x="651507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46" y="5911608"/>
            <a:ext cx="1257300" cy="209550"/>
          </a:xfrm>
          <a:custGeom>
            <a:avLst/>
            <a:gdLst/>
            <a:ahLst/>
            <a:cxnLst/>
            <a:rect l="l" t="t" r="r" b="b"/>
            <a:pathLst>
              <a:path w="1257300" h="209550">
                <a:moveTo>
                  <a:pt x="1257300" y="0"/>
                </a:moveTo>
                <a:lnTo>
                  <a:pt x="800100" y="0"/>
                </a:lnTo>
                <a:lnTo>
                  <a:pt x="0" y="0"/>
                </a:lnTo>
                <a:lnTo>
                  <a:pt x="0" y="209550"/>
                </a:lnTo>
                <a:lnTo>
                  <a:pt x="800100" y="209550"/>
                </a:lnTo>
                <a:lnTo>
                  <a:pt x="1257300" y="209550"/>
                </a:lnTo>
                <a:lnTo>
                  <a:pt x="12573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46" y="6445008"/>
            <a:ext cx="4343400" cy="381000"/>
          </a:xfrm>
          <a:custGeom>
            <a:avLst/>
            <a:gdLst/>
            <a:ahLst/>
            <a:cxnLst/>
            <a:rect l="l" t="t" r="r" b="b"/>
            <a:pathLst>
              <a:path w="4343400" h="381000">
                <a:moveTo>
                  <a:pt x="4343374" y="171450"/>
                </a:moveTo>
                <a:lnTo>
                  <a:pt x="4343374" y="171450"/>
                </a:lnTo>
                <a:lnTo>
                  <a:pt x="2971774" y="171450"/>
                </a:lnTo>
                <a:lnTo>
                  <a:pt x="2971774" y="0"/>
                </a:lnTo>
                <a:lnTo>
                  <a:pt x="0" y="0"/>
                </a:lnTo>
                <a:lnTo>
                  <a:pt x="0" y="171450"/>
                </a:lnTo>
                <a:lnTo>
                  <a:pt x="0" y="209562"/>
                </a:lnTo>
                <a:lnTo>
                  <a:pt x="0" y="381000"/>
                </a:lnTo>
                <a:lnTo>
                  <a:pt x="1257300" y="381000"/>
                </a:lnTo>
                <a:lnTo>
                  <a:pt x="4343374" y="381000"/>
                </a:lnTo>
                <a:lnTo>
                  <a:pt x="4343374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48" y="1110996"/>
            <a:ext cx="2070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3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numpy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as</a:t>
            </a:r>
            <a:r>
              <a:rPr sz="1500" spc="-1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np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8" y="1463421"/>
            <a:ext cx="21844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2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pandas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as</a:t>
            </a:r>
            <a:r>
              <a:rPr sz="1500" spc="-1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Pd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8" y="1815845"/>
            <a:ext cx="35560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0"/>
              </a:lnSpc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4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matplotlib.pyplot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as</a:t>
            </a:r>
            <a:r>
              <a:rPr sz="1500" spc="-2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plt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7" y="2129853"/>
            <a:ext cx="59486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500" spc="-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sklearn.model_selection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1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train_test_split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8" y="2387345"/>
            <a:ext cx="57404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5"/>
              </a:lnSpc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500" spc="-1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sklearn.neighbors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KNeighborsClassifier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8" y="2558795"/>
            <a:ext cx="50292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5"/>
              </a:lnSpc>
            </a:pP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500" spc="-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sklearn.metrics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500" spc="-1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accuracy_score,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8" y="2739770"/>
            <a:ext cx="18415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5"/>
              </a:lnSpc>
            </a:pPr>
            <a:r>
              <a:rPr sz="1500" spc="-10" dirty="0">
                <a:latin typeface="Courier New"/>
                <a:cs typeface="Courier New"/>
              </a:rPr>
              <a:t>confusion_matrix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48" y="3063620"/>
            <a:ext cx="2070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500" spc="-10" dirty="0">
                <a:latin typeface="Courier New"/>
                <a:cs typeface="Courier New"/>
              </a:rPr>
              <a:t>np.random.seed(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42</a:t>
            </a:r>
            <a:r>
              <a:rPr sz="1500" spc="-1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48" y="3273171"/>
            <a:ext cx="812800" cy="1428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500" dirty="0">
                <a:latin typeface="Courier New"/>
                <a:cs typeface="Courier New"/>
              </a:rPr>
              <a:t>n 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891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8" y="3416046"/>
            <a:ext cx="617220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500" dirty="0">
                <a:latin typeface="Courier New"/>
                <a:cs typeface="Courier New"/>
              </a:rPr>
              <a:t>pclass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np.random.choice([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3</a:t>
            </a:r>
            <a:r>
              <a:rPr sz="1500" dirty="0">
                <a:latin typeface="Courier New"/>
                <a:cs typeface="Courier New"/>
              </a:rPr>
              <a:t>],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size=n,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p=[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0.24</a:t>
            </a:r>
            <a:r>
              <a:rPr sz="1500" spc="-10" dirty="0">
                <a:latin typeface="Courier New"/>
                <a:cs typeface="Courier New"/>
              </a:rPr>
              <a:t>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48" y="3625596"/>
            <a:ext cx="13843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5"/>
              </a:lnSpc>
            </a:pP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0.21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0.55</a:t>
            </a:r>
            <a:r>
              <a:rPr sz="1500" spc="-10" dirty="0">
                <a:latin typeface="Courier New"/>
                <a:cs typeface="Courier New"/>
              </a:rPr>
              <a:t>])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8" y="3949446"/>
            <a:ext cx="58293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500" dirty="0">
                <a:latin typeface="Courier New"/>
                <a:cs typeface="Courier New"/>
              </a:rPr>
              <a:t>sex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np.random.choice([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'male'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'female'</a:t>
            </a:r>
            <a:r>
              <a:rPr sz="1500" dirty="0">
                <a:latin typeface="Courier New"/>
                <a:cs typeface="Courier New"/>
              </a:rPr>
              <a:t>],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size=n,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48" y="4158996"/>
            <a:ext cx="17272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0"/>
              </a:lnSpc>
            </a:pPr>
            <a:r>
              <a:rPr sz="1500" dirty="0">
                <a:latin typeface="Courier New"/>
                <a:cs typeface="Courier New"/>
              </a:rPr>
              <a:t>p=[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0.65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0.35</a:t>
            </a:r>
            <a:r>
              <a:rPr sz="1500" spc="-10" dirty="0">
                <a:latin typeface="Courier New"/>
                <a:cs typeface="Courier New"/>
              </a:rPr>
              <a:t>])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48" y="4482846"/>
            <a:ext cx="64135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500" dirty="0">
                <a:latin typeface="Courier New"/>
                <a:cs typeface="Courier New"/>
              </a:rPr>
              <a:t>age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np.clip(np.random.normal(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29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14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size=n),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0.5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80</a:t>
            </a:r>
            <a:r>
              <a:rPr sz="1500" spc="-25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57" y="4800536"/>
            <a:ext cx="652208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fare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np.where(pclass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np.random.normal(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84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40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n),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48" y="5054346"/>
            <a:ext cx="57277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500" dirty="0">
                <a:latin typeface="Courier New"/>
                <a:cs typeface="Courier New"/>
              </a:rPr>
              <a:t>np.where(pclass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np.random.normal(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20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10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5" dirty="0">
                <a:latin typeface="Courier New"/>
                <a:cs typeface="Courier New"/>
              </a:rPr>
              <a:t> n),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48" y="5225796"/>
            <a:ext cx="32131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500" dirty="0">
                <a:latin typeface="Courier New"/>
                <a:cs typeface="Courier New"/>
              </a:rPr>
              <a:t>np.random.normal(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13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8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n)))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48" y="5549658"/>
            <a:ext cx="3213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</a:pPr>
            <a:r>
              <a:rPr sz="1500" dirty="0">
                <a:latin typeface="Courier New"/>
                <a:cs typeface="Courier New"/>
              </a:rPr>
              <a:t>fare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np.clip(fare,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4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20" dirty="0">
                <a:solidFill>
                  <a:srgbClr val="116644"/>
                </a:solidFill>
                <a:latin typeface="Courier New"/>
                <a:cs typeface="Courier New"/>
              </a:rPr>
              <a:t>512</a:t>
            </a:r>
            <a:r>
              <a:rPr sz="1500" spc="-2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48" y="5759208"/>
            <a:ext cx="60833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survival probability based on real Titanic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patterns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57" y="5869304"/>
            <a:ext cx="12585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base =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20" dirty="0">
                <a:solidFill>
                  <a:srgbClr val="116644"/>
                </a:solidFill>
                <a:latin typeface="Courier New"/>
                <a:cs typeface="Courier New"/>
              </a:rPr>
              <a:t>0.15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48" y="6121158"/>
            <a:ext cx="65151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500" dirty="0">
                <a:latin typeface="Courier New"/>
                <a:cs typeface="Courier New"/>
              </a:rPr>
              <a:t>prob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base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+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(sex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'female'</a:t>
            </a:r>
            <a:r>
              <a:rPr sz="1500" dirty="0">
                <a:latin typeface="Courier New"/>
                <a:cs typeface="Courier New"/>
              </a:rPr>
              <a:t>)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*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0.55</a:t>
            </a:r>
            <a:r>
              <a:rPr sz="1500" spc="-5" dirty="0">
                <a:solidFill>
                  <a:srgbClr val="11664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+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(pclass ==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dirty="0">
                <a:latin typeface="Courier New"/>
                <a:cs typeface="Courier New"/>
              </a:rPr>
              <a:t>)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*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48" y="6292608"/>
            <a:ext cx="53848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5"/>
              </a:lnSpc>
            </a:pP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0.20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+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(pclass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500" dirty="0">
                <a:latin typeface="Courier New"/>
                <a:cs typeface="Courier New"/>
              </a:rPr>
              <a:t>)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*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0.10</a:t>
            </a:r>
            <a:r>
              <a:rPr sz="1500" spc="-5" dirty="0">
                <a:solidFill>
                  <a:srgbClr val="116644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+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(age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&lt;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12</a:t>
            </a:r>
            <a:r>
              <a:rPr sz="1500" dirty="0">
                <a:latin typeface="Courier New"/>
                <a:cs typeface="Courier New"/>
              </a:rPr>
              <a:t>)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* </a:t>
            </a:r>
            <a:r>
              <a:rPr sz="1500" spc="-20" dirty="0">
                <a:solidFill>
                  <a:srgbClr val="116644"/>
                </a:solidFill>
                <a:latin typeface="Courier New"/>
                <a:cs typeface="Courier New"/>
              </a:rPr>
              <a:t>0.15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-9842" y="6403022"/>
            <a:ext cx="4372610" cy="42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75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prob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np.clip(prob,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</a:pPr>
            <a:r>
              <a:rPr sz="1500" dirty="0">
                <a:latin typeface="Courier New"/>
                <a:cs typeface="Courier New"/>
              </a:rPr>
              <a:t>survived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np.random.binomial(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prob)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257" y="6830606"/>
            <a:ext cx="3771900" cy="27940"/>
          </a:xfrm>
          <a:custGeom>
            <a:avLst/>
            <a:gdLst/>
            <a:ahLst/>
            <a:cxnLst/>
            <a:rect l="l" t="t" r="r" b="b"/>
            <a:pathLst>
              <a:path w="3771900" h="27940">
                <a:moveTo>
                  <a:pt x="3200387" y="0"/>
                </a:moveTo>
                <a:lnTo>
                  <a:pt x="3200387" y="0"/>
                </a:lnTo>
                <a:lnTo>
                  <a:pt x="0" y="0"/>
                </a:lnTo>
                <a:lnTo>
                  <a:pt x="0" y="27393"/>
                </a:lnTo>
                <a:lnTo>
                  <a:pt x="3200387" y="27393"/>
                </a:lnTo>
                <a:lnTo>
                  <a:pt x="3200387" y="0"/>
                </a:lnTo>
                <a:close/>
              </a:path>
              <a:path w="3771900" h="27940">
                <a:moveTo>
                  <a:pt x="3771900" y="0"/>
                </a:moveTo>
                <a:lnTo>
                  <a:pt x="3543300" y="0"/>
                </a:lnTo>
                <a:lnTo>
                  <a:pt x="3429000" y="0"/>
                </a:lnTo>
                <a:lnTo>
                  <a:pt x="3200400" y="0"/>
                </a:lnTo>
                <a:lnTo>
                  <a:pt x="3200400" y="27393"/>
                </a:lnTo>
                <a:lnTo>
                  <a:pt x="3429000" y="27393"/>
                </a:lnTo>
                <a:lnTo>
                  <a:pt x="3543300" y="27393"/>
                </a:lnTo>
                <a:lnTo>
                  <a:pt x="3771900" y="27393"/>
                </a:lnTo>
                <a:lnTo>
                  <a:pt x="37719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8256" y="429768"/>
            <a:ext cx="45847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5"/>
              </a:lnSpc>
            </a:pPr>
            <a:r>
              <a:rPr sz="1500" dirty="0">
                <a:latin typeface="Courier New"/>
                <a:cs typeface="Courier New"/>
              </a:rPr>
              <a:t>df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pd.DataFrame({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'survived'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survived,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256" y="782193"/>
            <a:ext cx="48133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10"/>
              </a:lnSpc>
            </a:pP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'pclass'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pclass,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sex,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'age'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age,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256" y="1134617"/>
            <a:ext cx="17272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15"/>
              </a:lnSpc>
            </a:pP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'fare'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fare})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256" y="1668017"/>
            <a:ext cx="40259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0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Encode sex, split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features/target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256" y="2029967"/>
            <a:ext cx="42418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500" dirty="0">
                <a:latin typeface="Courier New"/>
                <a:cs typeface="Courier New"/>
              </a:rPr>
              <a:t>df[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]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df[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].</a:t>
            </a:r>
            <a:r>
              <a:rPr sz="1500" dirty="0">
                <a:solidFill>
                  <a:srgbClr val="6A5220"/>
                </a:solidFill>
                <a:latin typeface="Courier New"/>
                <a:cs typeface="Courier New"/>
              </a:rPr>
              <a:t>map</a:t>
            </a:r>
            <a:r>
              <a:rPr sz="1500" dirty="0">
                <a:latin typeface="Courier New"/>
                <a:cs typeface="Courier New"/>
              </a:rPr>
              <a:t>({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'male'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500" spc="-25" dirty="0">
                <a:latin typeface="Courier New"/>
                <a:cs typeface="Courier New"/>
              </a:rPr>
              <a:t>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256" y="2382392"/>
            <a:ext cx="16129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30"/>
              </a:lnSpc>
            </a:pP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'female'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latin typeface="Courier New"/>
                <a:cs typeface="Courier New"/>
              </a:rPr>
              <a:t>})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256" y="2915792"/>
            <a:ext cx="45847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500" dirty="0">
                <a:latin typeface="Courier New"/>
                <a:cs typeface="Courier New"/>
              </a:rPr>
              <a:t>X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df[[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'pclass'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'age'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A21515"/>
                </a:solidFill>
                <a:latin typeface="Courier New"/>
                <a:cs typeface="Courier New"/>
              </a:rPr>
              <a:t>'fare’</a:t>
            </a:r>
            <a:r>
              <a:rPr sz="1500" spc="-10" dirty="0">
                <a:latin typeface="Courier New"/>
                <a:cs typeface="Courier New"/>
              </a:rPr>
              <a:t>]]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8256" y="3268217"/>
            <a:ext cx="2070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500" dirty="0">
                <a:latin typeface="Courier New"/>
                <a:cs typeface="Courier New"/>
              </a:rPr>
              <a:t>y 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df[</a:t>
            </a:r>
            <a:r>
              <a:rPr sz="1500" spc="-10" dirty="0">
                <a:solidFill>
                  <a:srgbClr val="A21515"/>
                </a:solidFill>
                <a:latin typeface="Courier New"/>
                <a:cs typeface="Courier New"/>
              </a:rPr>
              <a:t>'survived’</a:t>
            </a:r>
            <a:r>
              <a:rPr sz="1500" spc="-10" dirty="0">
                <a:latin typeface="Courier New"/>
                <a:cs typeface="Courier New"/>
              </a:rPr>
              <a:t>]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256" y="3630167"/>
            <a:ext cx="38989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500" dirty="0">
                <a:latin typeface="Courier New"/>
                <a:cs typeface="Courier New"/>
              </a:rPr>
              <a:t>X_train,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X_test,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y_train,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y_test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=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8256" y="3982592"/>
            <a:ext cx="4356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45"/>
              </a:lnSpc>
            </a:pPr>
            <a:r>
              <a:rPr sz="1500" dirty="0">
                <a:latin typeface="Courier New"/>
                <a:cs typeface="Courier New"/>
              </a:rPr>
              <a:t>train_test_split(X,</a:t>
            </a:r>
            <a:r>
              <a:rPr sz="1500" spc="-5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y,</a:t>
            </a:r>
            <a:r>
              <a:rPr sz="1500" spc="-4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test_size=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0.2</a:t>
            </a:r>
            <a:r>
              <a:rPr sz="1500" spc="-10" dirty="0">
                <a:latin typeface="Courier New"/>
                <a:cs typeface="Courier New"/>
              </a:rPr>
              <a:t>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256" y="4335017"/>
            <a:ext cx="19558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50"/>
              </a:lnSpc>
            </a:pPr>
            <a:r>
              <a:rPr sz="1500" spc="-10" dirty="0">
                <a:latin typeface="Courier New"/>
                <a:cs typeface="Courier New"/>
              </a:rPr>
              <a:t>random_state=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42</a:t>
            </a:r>
            <a:r>
              <a:rPr sz="1500" spc="-1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256" y="4696967"/>
            <a:ext cx="12700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Train </a:t>
            </a:r>
            <a:r>
              <a:rPr sz="1500" spc="-25" dirty="0">
                <a:solidFill>
                  <a:srgbClr val="008000"/>
                </a:solidFill>
                <a:latin typeface="Courier New"/>
                <a:cs typeface="Courier New"/>
              </a:rPr>
              <a:t>KNN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8256" y="5049392"/>
            <a:ext cx="8128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500" dirty="0">
                <a:latin typeface="Courier New"/>
                <a:cs typeface="Courier New"/>
              </a:rPr>
              <a:t>model </a:t>
            </a:r>
            <a:r>
              <a:rPr sz="1500" spc="-50" dirty="0">
                <a:latin typeface="Courier New"/>
                <a:cs typeface="Courier New"/>
              </a:rPr>
              <a:t>=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8256" y="5401843"/>
            <a:ext cx="41275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560"/>
              </a:lnSpc>
            </a:pPr>
            <a:r>
              <a:rPr sz="1500" spc="-10" dirty="0">
                <a:latin typeface="Courier New"/>
                <a:cs typeface="Courier New"/>
              </a:rPr>
              <a:t>KNeighborsClassifier(n_neighbors=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8256" y="5763793"/>
            <a:ext cx="30988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5"/>
              </a:lnSpc>
            </a:pPr>
            <a:r>
              <a:rPr sz="1500" dirty="0">
                <a:latin typeface="Courier New"/>
                <a:cs typeface="Courier New"/>
              </a:rPr>
              <a:t>model.fit(X_train,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y_train)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8256" y="6116218"/>
            <a:ext cx="33274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0"/>
              </a:lnSpc>
            </a:pPr>
            <a:r>
              <a:rPr sz="1500" dirty="0">
                <a:latin typeface="Courier New"/>
                <a:cs typeface="Courier New"/>
              </a:rPr>
              <a:t>y_pred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 </a:t>
            </a:r>
            <a:r>
              <a:rPr sz="1500" spc="-10" dirty="0">
                <a:latin typeface="Courier New"/>
                <a:cs typeface="Courier New"/>
              </a:rPr>
              <a:t>model.predict(X_test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256" y="6468643"/>
            <a:ext cx="41275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5"/>
              </a:lnSpc>
            </a:pPr>
            <a:r>
              <a:rPr sz="1500" dirty="0">
                <a:latin typeface="Courier New"/>
                <a:cs typeface="Courier New"/>
              </a:rPr>
              <a:t>acc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accuracy_score(y_test,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y_pred)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25" y="307340"/>
            <a:ext cx="34321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200" dirty="0">
                <a:latin typeface="Courier New"/>
                <a:cs typeface="Courier New"/>
              </a:rPr>
              <a:t>plt.subplots(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figsize=(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11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4.5</a:t>
            </a:r>
            <a:r>
              <a:rPr sz="1200" spc="-10" dirty="0">
                <a:latin typeface="Courier New"/>
                <a:cs typeface="Courier New"/>
              </a:rPr>
              <a:t>))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925" y="659765"/>
            <a:ext cx="32480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1)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Survival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rate</a:t>
            </a:r>
            <a:r>
              <a:rPr sz="1200" spc="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by</a:t>
            </a:r>
            <a:r>
              <a:rPr sz="1200" spc="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sex</a:t>
            </a:r>
            <a:r>
              <a:rPr sz="12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and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class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925" y="1012189"/>
            <a:ext cx="31305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200" dirty="0">
                <a:latin typeface="Courier New"/>
                <a:cs typeface="Courier New"/>
              </a:rPr>
              <a:t>surv_rate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df.groupby([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'pclass'</a:t>
            </a:r>
            <a:r>
              <a:rPr sz="1200" spc="-10" dirty="0"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925" y="1193164"/>
            <a:ext cx="33147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200" spc="-10" dirty="0">
                <a:latin typeface="Courier New"/>
                <a:cs typeface="Courier New"/>
              </a:rPr>
              <a:t>])[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'survived'</a:t>
            </a:r>
            <a:r>
              <a:rPr sz="1200" spc="-10" dirty="0">
                <a:latin typeface="Courier New"/>
                <a:cs typeface="Courier New"/>
              </a:rPr>
              <a:t>].mean().unstack()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925" y="1374139"/>
            <a:ext cx="35115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200" dirty="0">
                <a:latin typeface="Courier New"/>
                <a:cs typeface="Courier New"/>
              </a:rPr>
              <a:t>surv_rate.columns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[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'Male'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'Female'</a:t>
            </a:r>
            <a:r>
              <a:rPr sz="1200" spc="-10" dirty="0"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925" y="1545589"/>
            <a:ext cx="62865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0"/>
              </a:lnSpc>
            </a:pPr>
            <a:r>
              <a:rPr sz="1200" dirty="0">
                <a:latin typeface="Courier New"/>
                <a:cs typeface="Courier New"/>
              </a:rPr>
              <a:t>surv_rate.plot(kind=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'bar'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ax=axes[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],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color=[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'#4C72B0'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'#DD8452’</a:t>
            </a:r>
            <a:r>
              <a:rPr sz="1200" spc="-10" dirty="0">
                <a:latin typeface="Courier New"/>
                <a:cs typeface="Courier New"/>
              </a:rPr>
              <a:t>])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925" y="1907539"/>
            <a:ext cx="45243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].set_title(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'Survival</a:t>
            </a:r>
            <a:r>
              <a:rPr sz="1200" spc="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Rate</a:t>
            </a:r>
            <a:r>
              <a:rPr sz="1200" spc="-6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by</a:t>
            </a:r>
            <a:r>
              <a:rPr sz="1200" spc="-6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Class</a:t>
            </a:r>
            <a:r>
              <a:rPr sz="1200" spc="-6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&amp;</a:t>
            </a:r>
            <a:r>
              <a:rPr sz="1200" spc="-6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Sex’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925" y="2259964"/>
            <a:ext cx="34194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].set_xlabel(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'Passenger</a:t>
            </a:r>
            <a:r>
              <a:rPr sz="1200" spc="-17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Class’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925" y="2612389"/>
            <a:ext cx="32353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].set_ylabel(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'Survival</a:t>
            </a:r>
            <a:r>
              <a:rPr sz="1200" spc="-13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Rate’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925" y="2974339"/>
            <a:ext cx="42481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].set_xticklabels([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latin typeface="Courier New"/>
                <a:cs typeface="Courier New"/>
              </a:rPr>
              <a:t>],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rotation=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925" y="3326765"/>
            <a:ext cx="24987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200" spc="-10" dirty="0">
                <a:latin typeface="Courier New"/>
                <a:cs typeface="Courier New"/>
              </a:rPr>
              <a:t>axes[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latin typeface="Courier New"/>
                <a:cs typeface="Courier New"/>
              </a:rPr>
              <a:t>].legend(title=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'Sex’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925" y="3679190"/>
            <a:ext cx="36036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2)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Confusion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matrix</a:t>
            </a:r>
            <a:r>
              <a:rPr sz="1200" spc="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the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KNN</a:t>
            </a:r>
            <a:r>
              <a:rPr sz="1200" spc="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model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925" y="3860165"/>
            <a:ext cx="34194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5"/>
              </a:lnSpc>
            </a:pPr>
            <a:r>
              <a:rPr sz="1200" dirty="0">
                <a:latin typeface="Courier New"/>
                <a:cs typeface="Courier New"/>
              </a:rPr>
              <a:t>cm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confusion_matrix(y_test,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y_pred)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925" y="4041140"/>
            <a:ext cx="34194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0"/>
              </a:lnSpc>
            </a:pPr>
            <a:r>
              <a:rPr sz="1200" dirty="0">
                <a:latin typeface="Courier New"/>
                <a:cs typeface="Courier New"/>
              </a:rPr>
              <a:t>im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].imshow(cm,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cmap=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'Blues'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925" y="4212590"/>
            <a:ext cx="53530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0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].set_title(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f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'KNN</a:t>
            </a:r>
            <a:r>
              <a:rPr sz="1200" spc="-8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Confusion</a:t>
            </a:r>
            <a:r>
              <a:rPr sz="1200" spc="-4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Matrix</a:t>
            </a:r>
            <a:r>
              <a:rPr sz="1200" spc="-11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(Acc=</a:t>
            </a:r>
            <a:r>
              <a:rPr sz="1200" spc="-10" dirty="0">
                <a:latin typeface="Courier New"/>
                <a:cs typeface="Courier New"/>
              </a:rPr>
              <a:t>{acc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:.2f</a:t>
            </a:r>
            <a:r>
              <a:rPr sz="1200" spc="-10" dirty="0">
                <a:latin typeface="Courier New"/>
                <a:cs typeface="Courier New"/>
              </a:rPr>
              <a:t>}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)'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925" y="4393565"/>
            <a:ext cx="28670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spc="-10" dirty="0">
                <a:latin typeface="Courier New"/>
                <a:cs typeface="Courier New"/>
              </a:rPr>
              <a:t>axes[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].set_xlabel(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'Predicted'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8925" y="4574540"/>
            <a:ext cx="25908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spc="-10" dirty="0">
                <a:latin typeface="Courier New"/>
                <a:cs typeface="Courier New"/>
              </a:rPr>
              <a:t>axes[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].set_ylabel(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'Actual'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8925" y="4745990"/>
            <a:ext cx="56165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].set_xticks([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]);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axes[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].set_xticklabels([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'Died'</a:t>
            </a:r>
            <a:r>
              <a:rPr sz="1200" spc="-10" dirty="0"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925" y="4926965"/>
            <a:ext cx="11176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'Survived'</a:t>
            </a:r>
            <a:r>
              <a:rPr sz="1200" spc="-10" dirty="0">
                <a:latin typeface="Courier New"/>
                <a:cs typeface="Courier New"/>
              </a:rPr>
              <a:t>])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8925" y="5107940"/>
            <a:ext cx="56165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].set_yticks([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]);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axes[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].set_yticklabels([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'Died'</a:t>
            </a:r>
            <a:r>
              <a:rPr sz="1200" spc="-10" dirty="0"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925" y="5279390"/>
            <a:ext cx="11176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'Survived'</a:t>
            </a:r>
            <a:r>
              <a:rPr sz="1200" spc="-10" dirty="0">
                <a:latin typeface="Courier New"/>
                <a:cs typeface="Courier New"/>
              </a:rPr>
              <a:t>])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8925" y="5460301"/>
            <a:ext cx="16700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200" dirty="0">
                <a:solidFill>
                  <a:srgbClr val="9622B4"/>
                </a:solidFill>
                <a:latin typeface="Courier New"/>
                <a:cs typeface="Courier New"/>
              </a:rPr>
              <a:t>for</a:t>
            </a:r>
            <a:r>
              <a:rPr sz="1200" spc="1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sz="12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A5220"/>
                </a:solidFill>
                <a:latin typeface="Courier New"/>
                <a:cs typeface="Courier New"/>
              </a:rPr>
              <a:t>range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200" spc="-10" dirty="0">
                <a:latin typeface="Courier New"/>
                <a:cs typeface="Courier New"/>
              </a:rPr>
              <a:t>):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925" y="5641276"/>
            <a:ext cx="20510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368935">
              <a:lnSpc>
                <a:spcPts val="1280"/>
              </a:lnSpc>
            </a:pPr>
            <a:r>
              <a:rPr sz="1200" dirty="0">
                <a:solidFill>
                  <a:srgbClr val="9622B4"/>
                </a:solidFill>
                <a:latin typeface="Courier New"/>
                <a:cs typeface="Courier New"/>
              </a:rPr>
              <a:t>for</a:t>
            </a:r>
            <a:r>
              <a:rPr sz="1200" spc="2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in</a:t>
            </a:r>
            <a:r>
              <a:rPr sz="12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6A5220"/>
                </a:solidFill>
                <a:latin typeface="Courier New"/>
                <a:cs typeface="Courier New"/>
              </a:rPr>
              <a:t>range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2</a:t>
            </a:r>
            <a:r>
              <a:rPr sz="1200" spc="-10" dirty="0">
                <a:latin typeface="Courier New"/>
                <a:cs typeface="Courier New"/>
              </a:rPr>
              <a:t>):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25" y="5812726"/>
            <a:ext cx="58007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737235">
              <a:lnSpc>
                <a:spcPts val="1280"/>
              </a:lnSpc>
            </a:pPr>
            <a:r>
              <a:rPr sz="1200" dirty="0">
                <a:latin typeface="Courier New"/>
                <a:cs typeface="Courier New"/>
              </a:rPr>
              <a:t>axes[</a:t>
            </a:r>
            <a:r>
              <a:rPr sz="12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].text(j,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i,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cm[i,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j],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ha=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'center'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va=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'center'</a:t>
            </a:r>
            <a:r>
              <a:rPr sz="1200" spc="-10" dirty="0"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8925" y="5993701"/>
            <a:ext cx="13017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200" spc="-10" dirty="0">
                <a:latin typeface="Courier New"/>
                <a:cs typeface="Courier New"/>
              </a:rPr>
              <a:t>color=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'black'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8925" y="6174676"/>
            <a:ext cx="16700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200" spc="-10" dirty="0">
                <a:latin typeface="Courier New"/>
                <a:cs typeface="Courier New"/>
              </a:rPr>
              <a:t>plt.tight_layout()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925" y="6346126"/>
            <a:ext cx="498475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200" spc="-10" dirty="0">
                <a:latin typeface="Courier New"/>
                <a:cs typeface="Courier New"/>
              </a:rPr>
              <a:t>plt.savefig(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'/content/titanic_knn_graph.png'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1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dpi=</a:t>
            </a:r>
            <a:r>
              <a:rPr sz="1200" spc="-10" dirty="0">
                <a:solidFill>
                  <a:srgbClr val="116644"/>
                </a:solidFill>
                <a:latin typeface="Courier New"/>
                <a:cs typeface="Courier New"/>
              </a:rPr>
              <a:t>150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8925" y="6527101"/>
            <a:ext cx="41560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2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"Saved</a:t>
            </a:r>
            <a:r>
              <a:rPr sz="1200" spc="-3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graph</a:t>
            </a:r>
            <a:r>
              <a:rPr sz="1200" spc="-2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21515"/>
                </a:solidFill>
                <a:latin typeface="Courier New"/>
                <a:cs typeface="Courier New"/>
              </a:rPr>
              <a:t>to</a:t>
            </a:r>
            <a:r>
              <a:rPr sz="1200" spc="-2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urier New"/>
                <a:cs typeface="Courier New"/>
              </a:rPr>
              <a:t>titanic_knn_graph.png"</a:t>
            </a:r>
            <a:r>
              <a:rPr sz="1200" spc="-1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OUTPUT</a:t>
            </a:r>
            <a:r>
              <a:rPr spc="-180" dirty="0"/>
              <a:t> </a:t>
            </a:r>
            <a:r>
              <a:rPr spc="325" dirty="0"/>
              <a:t>OF</a:t>
            </a:r>
            <a:r>
              <a:rPr spc="-114" dirty="0"/>
              <a:t> </a:t>
            </a:r>
            <a:r>
              <a:rPr spc="-204" dirty="0"/>
              <a:t>THE</a:t>
            </a:r>
            <a:r>
              <a:rPr spc="-150" dirty="0"/>
              <a:t> </a:t>
            </a:r>
            <a:r>
              <a:rPr spc="560" dirty="0"/>
              <a:t>CODE</a:t>
            </a:r>
            <a:r>
              <a:rPr spc="-100" dirty="0"/>
              <a:t> </a:t>
            </a:r>
            <a:r>
              <a:rPr spc="-434" dirty="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524000"/>
            <a:ext cx="897255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3749"/>
            <a:ext cx="5292090" cy="1305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560" dirty="0"/>
              <a:t>CODE</a:t>
            </a:r>
            <a:r>
              <a:rPr spc="-130" dirty="0"/>
              <a:t> </a:t>
            </a:r>
            <a:r>
              <a:rPr spc="245" dirty="0"/>
              <a:t>FOR</a:t>
            </a:r>
            <a:r>
              <a:rPr spc="-55" dirty="0"/>
              <a:t> </a:t>
            </a:r>
            <a:r>
              <a:rPr spc="145" dirty="0"/>
              <a:t>LOGISTIC </a:t>
            </a:r>
            <a:r>
              <a:rPr spc="204" dirty="0"/>
              <a:t>REGRATION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0103" y="6575259"/>
            <a:ext cx="1574800" cy="283210"/>
          </a:xfrm>
          <a:custGeom>
            <a:avLst/>
            <a:gdLst/>
            <a:ahLst/>
            <a:cxnLst/>
            <a:rect l="l" t="t" r="r" b="b"/>
            <a:pathLst>
              <a:path w="1574800" h="283209">
                <a:moveTo>
                  <a:pt x="1574800" y="12"/>
                </a:moveTo>
                <a:lnTo>
                  <a:pt x="590550" y="12"/>
                </a:lnTo>
                <a:lnTo>
                  <a:pt x="393700" y="12"/>
                </a:lnTo>
                <a:lnTo>
                  <a:pt x="0" y="0"/>
                </a:lnTo>
                <a:lnTo>
                  <a:pt x="0" y="180987"/>
                </a:lnTo>
                <a:lnTo>
                  <a:pt x="0" y="190512"/>
                </a:lnTo>
                <a:lnTo>
                  <a:pt x="0" y="282740"/>
                </a:lnTo>
                <a:lnTo>
                  <a:pt x="393700" y="282740"/>
                </a:lnTo>
                <a:lnTo>
                  <a:pt x="590550" y="282740"/>
                </a:lnTo>
                <a:lnTo>
                  <a:pt x="1377950" y="282740"/>
                </a:lnTo>
                <a:lnTo>
                  <a:pt x="1377950" y="190512"/>
                </a:lnTo>
                <a:lnTo>
                  <a:pt x="1574800" y="190512"/>
                </a:lnTo>
                <a:lnTo>
                  <a:pt x="1574800" y="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0103" y="1422272"/>
            <a:ext cx="396240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5"/>
              </a:lnSpc>
            </a:pP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50" spc="1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Logistic</a:t>
            </a:r>
            <a:r>
              <a:rPr sz="1250" spc="19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Regression</a:t>
            </a:r>
            <a:r>
              <a:rPr sz="1250" spc="10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on</a:t>
            </a:r>
            <a:r>
              <a:rPr sz="1250" spc="10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Titanic</a:t>
            </a:r>
            <a:r>
              <a:rPr sz="1250" spc="19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008000"/>
                </a:solidFill>
                <a:latin typeface="Courier New"/>
                <a:cs typeface="Courier New"/>
              </a:rPr>
              <a:t>Dataset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03" y="1955673"/>
            <a:ext cx="187007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250" spc="10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pandas</a:t>
            </a:r>
            <a:r>
              <a:rPr sz="1250" spc="120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as</a:t>
            </a:r>
            <a:r>
              <a:rPr sz="1250" spc="17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spc="-25" dirty="0">
                <a:latin typeface="Courier New"/>
                <a:cs typeface="Courier New"/>
              </a:rPr>
              <a:t>pd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03" y="2308098"/>
            <a:ext cx="513080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250" spc="229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sklearn.model_selection</a:t>
            </a:r>
            <a:r>
              <a:rPr sz="1250" spc="315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250" spc="229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train_test_split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03" y="2660523"/>
            <a:ext cx="503237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0"/>
              </a:lnSpc>
            </a:pP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250" spc="21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sklearn.linear_model</a:t>
            </a:r>
            <a:r>
              <a:rPr sz="1250" spc="295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250" spc="21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LogisticRegression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03" y="3193923"/>
            <a:ext cx="659447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250" spc="23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sklearn.metrics</a:t>
            </a:r>
            <a:r>
              <a:rPr sz="1250" spc="245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250" spc="229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accuracy_score,</a:t>
            </a:r>
            <a:r>
              <a:rPr sz="1250" spc="25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classification_report,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03" y="3384422"/>
            <a:ext cx="15875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spc="-10" dirty="0">
                <a:latin typeface="Courier New"/>
                <a:cs typeface="Courier New"/>
              </a:rPr>
              <a:t>confusion_matrix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03" y="3565397"/>
            <a:ext cx="39497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from</a:t>
            </a:r>
            <a:r>
              <a:rPr sz="1250" spc="18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sklearn.impute</a:t>
            </a:r>
            <a:r>
              <a:rPr sz="1250" spc="250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9622B4"/>
                </a:solidFill>
                <a:latin typeface="Courier New"/>
                <a:cs typeface="Courier New"/>
              </a:rPr>
              <a:t>import</a:t>
            </a:r>
            <a:r>
              <a:rPr sz="1250" spc="170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SimpleImputer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03" y="4089272"/>
            <a:ext cx="148907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5"/>
              </a:lnSpc>
            </a:pP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50" spc="1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Load</a:t>
            </a:r>
            <a:r>
              <a:rPr sz="1250" spc="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CSV</a:t>
            </a:r>
            <a:r>
              <a:rPr sz="1250" spc="1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spc="-20" dirty="0">
                <a:solidFill>
                  <a:srgbClr val="008000"/>
                </a:solidFill>
                <a:latin typeface="Courier New"/>
                <a:cs typeface="Courier New"/>
              </a:rPr>
              <a:t>file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03" y="4279772"/>
            <a:ext cx="306387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50" dirty="0">
                <a:latin typeface="Courier New"/>
                <a:cs typeface="Courier New"/>
              </a:rPr>
              <a:t>df</a:t>
            </a:r>
            <a:r>
              <a:rPr sz="1250" spc="7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=</a:t>
            </a:r>
            <a:r>
              <a:rPr sz="1250" spc="5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pd.read_csv(</a:t>
            </a:r>
            <a:r>
              <a:rPr sz="1250" spc="-10" dirty="0">
                <a:solidFill>
                  <a:srgbClr val="A21515"/>
                </a:solidFill>
                <a:latin typeface="Courier New"/>
                <a:cs typeface="Courier New"/>
              </a:rPr>
              <a:t>"titanic.csv"</a:t>
            </a:r>
            <a:r>
              <a:rPr sz="1250" spc="-10" dirty="0">
                <a:latin typeface="Courier New"/>
                <a:cs typeface="Courier New"/>
              </a:rPr>
              <a:t>)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103" y="4794122"/>
            <a:ext cx="2178050" cy="1879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50" spc="1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Display</a:t>
            </a:r>
            <a:r>
              <a:rPr sz="1250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first</a:t>
            </a:r>
            <a:r>
              <a:rPr sz="1250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5</a:t>
            </a:r>
            <a:r>
              <a:rPr sz="1250" spc="1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spc="-20" dirty="0">
                <a:solidFill>
                  <a:srgbClr val="008000"/>
                </a:solidFill>
                <a:latin typeface="Courier New"/>
                <a:cs typeface="Courier New"/>
              </a:rPr>
              <a:t>rows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103" y="4981839"/>
            <a:ext cx="2178050" cy="1841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5"/>
              </a:lnSpc>
            </a:pPr>
            <a:r>
              <a:rPr sz="125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1250" dirty="0">
                <a:latin typeface="Courier New"/>
                <a:cs typeface="Courier New"/>
              </a:rPr>
              <a:t>(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"First</a:t>
            </a:r>
            <a:r>
              <a:rPr sz="1250" spc="13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5</a:t>
            </a:r>
            <a:r>
              <a:rPr sz="1250" spc="229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A21515"/>
                </a:solidFill>
                <a:latin typeface="Courier New"/>
                <a:cs typeface="Courier New"/>
              </a:rPr>
              <a:t>Rows:"</a:t>
            </a:r>
            <a:r>
              <a:rPr sz="1250" spc="-10" dirty="0">
                <a:latin typeface="Courier New"/>
                <a:cs typeface="Courier New"/>
              </a:rPr>
              <a:t>)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03" y="5165597"/>
            <a:ext cx="15875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250" spc="-1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1250" spc="-10" dirty="0">
                <a:latin typeface="Courier New"/>
                <a:cs typeface="Courier New"/>
              </a:rPr>
              <a:t>(df.head())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103" y="5689434"/>
            <a:ext cx="276860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250" spc="1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Select</a:t>
            </a:r>
            <a:r>
              <a:rPr sz="1250" spc="1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features</a:t>
            </a:r>
            <a:r>
              <a:rPr sz="1250" spc="1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008000"/>
                </a:solidFill>
                <a:latin typeface="Courier New"/>
                <a:cs typeface="Courier New"/>
              </a:rPr>
              <a:t>and</a:t>
            </a:r>
            <a:r>
              <a:rPr sz="1250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008000"/>
                </a:solidFill>
                <a:latin typeface="Courier New"/>
                <a:cs typeface="Courier New"/>
              </a:rPr>
              <a:t>target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103" y="5879934"/>
            <a:ext cx="601662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250" dirty="0">
                <a:latin typeface="Courier New"/>
                <a:cs typeface="Courier New"/>
              </a:rPr>
              <a:t>features</a:t>
            </a:r>
            <a:r>
              <a:rPr sz="1250" spc="19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=</a:t>
            </a:r>
            <a:r>
              <a:rPr sz="1250" spc="20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[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'Pclass'</a:t>
            </a:r>
            <a:r>
              <a:rPr sz="1250" dirty="0">
                <a:latin typeface="Courier New"/>
                <a:cs typeface="Courier New"/>
              </a:rPr>
              <a:t>,</a:t>
            </a:r>
            <a:r>
              <a:rPr sz="1250" spc="165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250" dirty="0">
                <a:latin typeface="Courier New"/>
                <a:cs typeface="Courier New"/>
              </a:rPr>
              <a:t>,</a:t>
            </a:r>
            <a:r>
              <a:rPr sz="1250" spc="170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'Age'</a:t>
            </a:r>
            <a:r>
              <a:rPr sz="1250" dirty="0">
                <a:latin typeface="Courier New"/>
                <a:cs typeface="Courier New"/>
              </a:rPr>
              <a:t>,</a:t>
            </a:r>
            <a:r>
              <a:rPr sz="1250" spc="175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'SibSp'</a:t>
            </a:r>
            <a:r>
              <a:rPr sz="1250" dirty="0">
                <a:latin typeface="Courier New"/>
                <a:cs typeface="Courier New"/>
              </a:rPr>
              <a:t>,</a:t>
            </a:r>
            <a:r>
              <a:rPr sz="1250" spc="170" dirty="0"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21515"/>
                </a:solidFill>
                <a:latin typeface="Courier New"/>
                <a:cs typeface="Courier New"/>
              </a:rPr>
              <a:t>'Parch'</a:t>
            </a:r>
            <a:r>
              <a:rPr sz="1250" dirty="0">
                <a:latin typeface="Courier New"/>
                <a:cs typeface="Courier New"/>
              </a:rPr>
              <a:t>,</a:t>
            </a:r>
            <a:r>
              <a:rPr sz="1250" spc="175" dirty="0"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A21515"/>
                </a:solidFill>
                <a:latin typeface="Courier New"/>
                <a:cs typeface="Courier New"/>
              </a:rPr>
              <a:t>'Fare'</a:t>
            </a:r>
            <a:r>
              <a:rPr sz="1250" spc="-10" dirty="0">
                <a:latin typeface="Courier New"/>
                <a:cs typeface="Courier New"/>
              </a:rPr>
              <a:t>]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103" y="6051384"/>
            <a:ext cx="1882775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250" dirty="0">
                <a:latin typeface="Courier New"/>
                <a:cs typeface="Courier New"/>
              </a:rPr>
              <a:t>target</a:t>
            </a:r>
            <a:r>
              <a:rPr sz="1250" spc="6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=</a:t>
            </a:r>
            <a:r>
              <a:rPr sz="1250" spc="140" dirty="0"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A21515"/>
                </a:solidFill>
                <a:latin typeface="Courier New"/>
                <a:cs typeface="Courier New"/>
              </a:rPr>
              <a:t>'Survived'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479" y="6543357"/>
            <a:ext cx="1602105" cy="401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60"/>
              </a:lnSpc>
              <a:spcBef>
                <a:spcPts val="125"/>
              </a:spcBef>
            </a:pPr>
            <a:r>
              <a:rPr sz="1250" dirty="0">
                <a:latin typeface="Courier New"/>
                <a:cs typeface="Courier New"/>
              </a:rPr>
              <a:t>X</a:t>
            </a:r>
            <a:r>
              <a:rPr sz="1250" spc="6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=</a:t>
            </a:r>
            <a:r>
              <a:rPr sz="1250" spc="25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df[features]</a:t>
            </a:r>
            <a:endParaRPr sz="1250">
              <a:latin typeface="Courier New"/>
              <a:cs typeface="Courier New"/>
            </a:endParaRPr>
          </a:p>
          <a:p>
            <a:pPr marL="12700">
              <a:lnSpc>
                <a:spcPts val="1460"/>
              </a:lnSpc>
            </a:pPr>
            <a:r>
              <a:rPr sz="1250" dirty="0">
                <a:latin typeface="Courier New"/>
                <a:cs typeface="Courier New"/>
              </a:rPr>
              <a:t>y</a:t>
            </a:r>
            <a:r>
              <a:rPr sz="1250" spc="6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=</a:t>
            </a:r>
            <a:r>
              <a:rPr sz="1250" spc="2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df[target]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LOGISTIC</a:t>
            </a:r>
            <a:r>
              <a:rPr spc="-110" dirty="0"/>
              <a:t> </a:t>
            </a:r>
            <a:r>
              <a:rPr spc="204" dirty="0"/>
              <a:t>REGRATION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117" y="1502155"/>
            <a:ext cx="6786245" cy="1944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125"/>
              </a:spcBef>
              <a:tabLst>
                <a:tab pos="355600" algn="l"/>
              </a:tabLst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550" b="1" spc="-30" dirty="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sz="155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35" dirty="0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r>
              <a:rPr sz="155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4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55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5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65" dirty="0">
                <a:solidFill>
                  <a:srgbClr val="FFFFFF"/>
                </a:solidFill>
                <a:latin typeface="Tahoma"/>
                <a:cs typeface="Tahoma"/>
              </a:rPr>
              <a:t>because</a:t>
            </a:r>
            <a:r>
              <a:rPr sz="15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5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15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variable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4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55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binary—</a:t>
            </a:r>
            <a:endParaRPr sz="1550">
              <a:latin typeface="Tahoma"/>
              <a:cs typeface="Tahoma"/>
            </a:endParaRPr>
          </a:p>
          <a:p>
            <a:pPr marL="355600">
              <a:lnSpc>
                <a:spcPts val="1680"/>
              </a:lnSpc>
            </a:pPr>
            <a:r>
              <a:rPr sz="1550" b="1" spc="-30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5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5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only</a:t>
            </a:r>
            <a:r>
              <a:rPr sz="155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75" dirty="0">
                <a:solidFill>
                  <a:srgbClr val="FFFFFF"/>
                </a:solidFill>
                <a:latin typeface="Tahoma"/>
                <a:cs typeface="Tahoma"/>
              </a:rPr>
              <a:t>two</a:t>
            </a:r>
            <a:r>
              <a:rPr sz="15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possible</a:t>
            </a:r>
            <a:r>
              <a:rPr sz="155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outcomes.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5600" algn="l"/>
              </a:tabLst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550" b="1" spc="-18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5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5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50" dirty="0">
                <a:solidFill>
                  <a:srgbClr val="FFFFFF"/>
                </a:solidFill>
                <a:latin typeface="Tahoma"/>
                <a:cs typeface="Tahoma"/>
              </a:rPr>
              <a:t>Titanic</a:t>
            </a:r>
            <a:r>
              <a:rPr sz="155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dataset,</a:t>
            </a:r>
            <a:r>
              <a:rPr sz="155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55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155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ahoma"/>
                <a:cs typeface="Tahoma"/>
              </a:rPr>
              <a:t>is: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355600" algn="l"/>
              </a:tabLst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55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33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5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Survived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5600" algn="l"/>
              </a:tabLst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55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33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5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Did</a:t>
            </a:r>
            <a:r>
              <a:rPr sz="15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55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survive</a:t>
            </a:r>
            <a:endParaRPr sz="1550">
              <a:latin typeface="Tahoma"/>
              <a:cs typeface="Tahoma"/>
            </a:endParaRPr>
          </a:p>
          <a:p>
            <a:pPr marL="355600" marR="850265" indent="-343535">
              <a:lnSpc>
                <a:spcPts val="1500"/>
              </a:lnSpc>
              <a:spcBef>
                <a:spcPts val="1045"/>
              </a:spcBef>
              <a:tabLst>
                <a:tab pos="355600" algn="l"/>
              </a:tabLst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550" b="1" spc="-30" dirty="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sz="15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35" dirty="0">
                <a:solidFill>
                  <a:srgbClr val="FFFFFF"/>
                </a:solidFill>
                <a:latin typeface="Tahoma"/>
                <a:cs typeface="Tahoma"/>
              </a:rPr>
              <a:t>regression </a:t>
            </a:r>
            <a:r>
              <a:rPr sz="1550" b="1" spc="-5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5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specifically</a:t>
            </a:r>
            <a:r>
              <a:rPr sz="1550" b="1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55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9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55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kind</a:t>
            </a:r>
            <a:r>
              <a:rPr sz="155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classification problem.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76" y="3512565"/>
            <a:ext cx="2759710" cy="24765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550" b="1" spc="-45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5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5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sz="15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Tahoma"/>
                <a:cs typeface="Tahoma"/>
              </a:rPr>
              <a:t>regression?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117" y="3542728"/>
            <a:ext cx="168275" cy="544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476" y="3836415"/>
            <a:ext cx="2054860" cy="24765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550" b="1" spc="-30" dirty="0">
                <a:solidFill>
                  <a:srgbClr val="FFFFFF"/>
                </a:solidFill>
                <a:latin typeface="Tahoma"/>
                <a:cs typeface="Tahoma"/>
              </a:rPr>
              <a:t>Predicts</a:t>
            </a:r>
            <a:r>
              <a:rPr sz="155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probabilities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952" y="4153217"/>
            <a:ext cx="6033770" cy="1257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480"/>
              </a:lnSpc>
              <a:spcBef>
                <a:spcPts val="125"/>
              </a:spcBef>
              <a:tabLst>
                <a:tab pos="298450" algn="l"/>
              </a:tabLst>
            </a:pPr>
            <a:r>
              <a:rPr sz="1100" spc="6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Instead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Tahoma"/>
                <a:cs typeface="Tahoma"/>
              </a:rPr>
              <a:t>just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saying</a:t>
            </a:r>
            <a:r>
              <a:rPr sz="14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"survived"</a:t>
            </a:r>
            <a:r>
              <a:rPr sz="1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"did</a:t>
            </a:r>
            <a:r>
              <a:rPr sz="14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4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survive,"</a:t>
            </a:r>
            <a:r>
              <a:rPr sz="1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5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estimates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endParaRPr sz="1400">
              <a:latin typeface="Tahoma"/>
              <a:cs typeface="Tahoma"/>
            </a:endParaRPr>
          </a:p>
          <a:p>
            <a:pPr marL="298450">
              <a:lnSpc>
                <a:spcPts val="1480"/>
              </a:lnSpc>
            </a:pPr>
            <a:r>
              <a:rPr sz="1400" b="1" spc="-35" dirty="0">
                <a:solidFill>
                  <a:srgbClr val="FFFFFF"/>
                </a:solidFill>
                <a:latin typeface="Tahoma"/>
                <a:cs typeface="Tahoma"/>
              </a:rPr>
              <a:t>probability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survival.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298450" algn="l"/>
              </a:tabLst>
            </a:pPr>
            <a:r>
              <a:rPr sz="1100" spc="6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Example:</a:t>
            </a:r>
            <a:endParaRPr sz="14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950" spc="10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950" spc="20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1200" b="1" spc="-30" dirty="0">
                <a:solidFill>
                  <a:srgbClr val="FFFFFF"/>
                </a:solidFill>
                <a:latin typeface="Tahoma"/>
                <a:cs typeface="Tahoma"/>
              </a:rPr>
              <a:t>Passenger</a:t>
            </a:r>
            <a:r>
              <a:rPr sz="12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ahoma"/>
                <a:cs typeface="Tahoma"/>
              </a:rPr>
              <a:t>A:</a:t>
            </a:r>
            <a:r>
              <a:rPr sz="12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204" dirty="0">
                <a:solidFill>
                  <a:srgbClr val="FFFFFF"/>
                </a:solidFill>
                <a:latin typeface="Tahoma"/>
                <a:cs typeface="Tahoma"/>
              </a:rPr>
              <a:t>92%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ahoma"/>
                <a:cs typeface="Tahoma"/>
              </a:rPr>
              <a:t>chance</a:t>
            </a:r>
            <a:r>
              <a:rPr sz="12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survival</a:t>
            </a: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</a:pPr>
            <a:r>
              <a:rPr sz="950" spc="10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950" spc="170" dirty="0">
                <a:solidFill>
                  <a:srgbClr val="89D0D5"/>
                </a:solidFill>
                <a:latin typeface="Lucida Sans Unicode"/>
                <a:cs typeface="Lucida Sans Unicode"/>
              </a:rPr>
              <a:t>  </a:t>
            </a:r>
            <a:r>
              <a:rPr sz="1200" b="1" spc="-30" dirty="0">
                <a:solidFill>
                  <a:srgbClr val="FFFFFF"/>
                </a:solidFill>
                <a:latin typeface="Tahoma"/>
                <a:cs typeface="Tahoma"/>
              </a:rPr>
              <a:t>Passenger</a:t>
            </a:r>
            <a:r>
              <a:rPr sz="12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40" dirty="0">
                <a:solidFill>
                  <a:srgbClr val="FFFFFF"/>
                </a:solidFill>
                <a:latin typeface="Tahoma"/>
                <a:cs typeface="Tahoma"/>
              </a:rPr>
              <a:t>B:</a:t>
            </a:r>
            <a:r>
              <a:rPr sz="12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204" dirty="0">
                <a:solidFill>
                  <a:srgbClr val="FFFFFF"/>
                </a:solidFill>
                <a:latin typeface="Tahoma"/>
                <a:cs typeface="Tahoma"/>
              </a:rPr>
              <a:t>18%</a:t>
            </a:r>
            <a:r>
              <a:rPr sz="12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ahoma"/>
                <a:cs typeface="Tahoma"/>
              </a:rPr>
              <a:t>chance</a:t>
            </a:r>
            <a:r>
              <a:rPr sz="12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survival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117" y="5498465"/>
            <a:ext cx="16827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7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0476" y="5465140"/>
            <a:ext cx="3075305" cy="24765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50" b="1" spc="-80" dirty="0">
                <a:solidFill>
                  <a:srgbClr val="FFFFFF"/>
                </a:solidFill>
                <a:latin typeface="Tahoma"/>
                <a:cs typeface="Tahoma"/>
              </a:rPr>
              <a:t>Works</a:t>
            </a:r>
            <a:r>
              <a:rPr sz="155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ahoma"/>
                <a:cs typeface="Tahoma"/>
              </a:rPr>
              <a:t>well</a:t>
            </a:r>
            <a:r>
              <a:rPr sz="15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6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5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ahoma"/>
                <a:cs typeface="Tahoma"/>
              </a:rPr>
              <a:t>binary</a:t>
            </a:r>
            <a:r>
              <a:rPr sz="15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ahoma"/>
                <a:cs typeface="Tahoma"/>
              </a:rPr>
              <a:t>outcomes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952" y="5784215"/>
            <a:ext cx="6503670" cy="4152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98450" marR="5080" indent="-286385">
              <a:lnSpc>
                <a:spcPts val="1350"/>
              </a:lnSpc>
              <a:spcBef>
                <a:spcPts val="445"/>
              </a:spcBef>
              <a:tabLst>
                <a:tab pos="298450" algn="l"/>
              </a:tabLst>
            </a:pPr>
            <a:r>
              <a:rPr sz="1100" spc="60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Since</a:t>
            </a:r>
            <a:r>
              <a:rPr sz="1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only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0" dirty="0">
                <a:solidFill>
                  <a:srgbClr val="FFFFFF"/>
                </a:solidFill>
                <a:latin typeface="Tahoma"/>
                <a:cs typeface="Tahoma"/>
              </a:rPr>
              <a:t>two</a:t>
            </a:r>
            <a:r>
              <a:rPr sz="1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classes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(0</a:t>
            </a:r>
            <a:r>
              <a:rPr sz="14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1),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natural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choice.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3431"/>
            <a:ext cx="8430260" cy="607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835" indent="-20002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86111"/>
              <a:buFont typeface="Tahoma"/>
              <a:buAutoNum type="arabicPeriod"/>
              <a:tabLst>
                <a:tab pos="203835" algn="l"/>
              </a:tabLst>
            </a:pP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Easy</a:t>
            </a:r>
            <a:r>
              <a:rPr sz="18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interpret</a:t>
            </a:r>
            <a:endParaRPr sz="1800">
              <a:latin typeface="Tahoma"/>
              <a:cs typeface="Tahoma"/>
            </a:endParaRPr>
          </a:p>
          <a:p>
            <a:pPr marL="755650" lvl="1" indent="-28511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75565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shows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FFFFFF"/>
                </a:solidFill>
                <a:latin typeface="Trebuchet MS"/>
                <a:cs typeface="Trebuchet MS"/>
              </a:rPr>
              <a:t>each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feature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affects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probability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survival.</a:t>
            </a:r>
            <a:endParaRPr sz="1800">
              <a:latin typeface="Trebuchet MS"/>
              <a:cs typeface="Trebuchet MS"/>
            </a:endParaRPr>
          </a:p>
          <a:p>
            <a:pPr marL="755650" lvl="1" indent="-28511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75565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example:</a:t>
            </a:r>
            <a:endParaRPr sz="1800">
              <a:latin typeface="Trebuchet MS"/>
              <a:cs typeface="Trebuchet MS"/>
            </a:endParaRPr>
          </a:p>
          <a:p>
            <a:pPr marL="1155065" lvl="2" indent="-227329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1155065" algn="l"/>
              </a:tabLst>
            </a:pP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Being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female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increase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predicted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probability.</a:t>
            </a:r>
            <a:endParaRPr sz="1800">
              <a:latin typeface="Trebuchet MS"/>
              <a:cs typeface="Trebuchet MS"/>
            </a:endParaRPr>
          </a:p>
          <a:p>
            <a:pPr marL="1155065" lvl="2" indent="-227329">
              <a:lnSpc>
                <a:spcPts val="2130"/>
              </a:lnSpc>
              <a:spcBef>
                <a:spcPts val="20"/>
              </a:spcBef>
              <a:buAutoNum type="arabicPeriod"/>
              <a:tabLst>
                <a:tab pos="1155065" algn="l"/>
              </a:tabLst>
            </a:pP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Being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increase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predicted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probability.</a:t>
            </a:r>
            <a:endParaRPr sz="1800">
              <a:latin typeface="Trebuchet MS"/>
              <a:cs typeface="Trebuchet MS"/>
            </a:endParaRPr>
          </a:p>
          <a:p>
            <a:pPr marL="1155065" lvl="2" indent="-227329">
              <a:lnSpc>
                <a:spcPts val="2130"/>
              </a:lnSpc>
              <a:buAutoNum type="arabicPeriod"/>
              <a:tabLst>
                <a:tab pos="1155065" algn="l"/>
              </a:tabLst>
            </a:pP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Being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third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Trebuchet MS"/>
                <a:cs typeface="Trebuchet MS"/>
              </a:rPr>
              <a:t>decrease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predicted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probability.</a:t>
            </a:r>
            <a:endParaRPr sz="1800">
              <a:latin typeface="Trebuchet MS"/>
              <a:cs typeface="Trebuchet MS"/>
            </a:endParaRPr>
          </a:p>
          <a:p>
            <a:pPr marL="203835" indent="-200025">
              <a:lnSpc>
                <a:spcPct val="100000"/>
              </a:lnSpc>
              <a:spcBef>
                <a:spcPts val="15"/>
              </a:spcBef>
              <a:buSzPct val="86111"/>
              <a:buAutoNum type="arabicPeriod" startAt="2"/>
              <a:tabLst>
                <a:tab pos="203835" algn="l"/>
              </a:tabLst>
            </a:pPr>
            <a:r>
              <a:rPr sz="1800" b="1" spc="-120" dirty="0">
                <a:solidFill>
                  <a:srgbClr val="FFFFFF"/>
                </a:solidFill>
                <a:latin typeface="Tahoma"/>
                <a:cs typeface="Tahoma"/>
              </a:rPr>
              <a:t>Fast</a:t>
            </a:r>
            <a:r>
              <a:rPr sz="18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efficient</a:t>
            </a:r>
            <a:endParaRPr sz="1800">
              <a:latin typeface="Tahoma"/>
              <a:cs typeface="Tahoma"/>
            </a:endParaRPr>
          </a:p>
          <a:p>
            <a:pPr marL="755015" marR="5080" lvl="1" indent="-285115">
              <a:lnSpc>
                <a:spcPct val="100800"/>
              </a:lnSpc>
              <a:spcBef>
                <a:spcPts val="5"/>
              </a:spcBef>
              <a:buAutoNum type="arabicPeriod"/>
              <a:tabLst>
                <a:tab pos="756285" algn="l"/>
              </a:tabLst>
            </a:pP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trains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quickly,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Trebuchet MS"/>
                <a:cs typeface="Trebuchet MS"/>
              </a:rPr>
              <a:t>even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larger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datasets,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7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strong 	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baseline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model.</a:t>
            </a:r>
            <a:endParaRPr sz="1800">
              <a:latin typeface="Trebuchet MS"/>
              <a:cs typeface="Trebuchet MS"/>
            </a:endParaRPr>
          </a:p>
          <a:p>
            <a:pPr marL="203835" indent="-200025">
              <a:lnSpc>
                <a:spcPts val="2130"/>
              </a:lnSpc>
              <a:spcBef>
                <a:spcPts val="20"/>
              </a:spcBef>
              <a:buSzPct val="86111"/>
              <a:buAutoNum type="arabicPeriod" startAt="2"/>
              <a:tabLst>
                <a:tab pos="203835" algn="l"/>
              </a:tabLst>
            </a:pP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Produces</a:t>
            </a:r>
            <a:r>
              <a:rPr sz="1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18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decisions</a:t>
            </a:r>
            <a:endParaRPr sz="1800">
              <a:latin typeface="Tahoma"/>
              <a:cs typeface="Tahoma"/>
            </a:endParaRPr>
          </a:p>
          <a:p>
            <a:pPr marL="755015" marR="867410" lvl="1" indent="-285115">
              <a:lnSpc>
                <a:spcPts val="2180"/>
              </a:lnSpc>
              <a:spcBef>
                <a:spcPts val="25"/>
              </a:spcBef>
              <a:buAutoNum type="arabicPeriod"/>
              <a:tabLst>
                <a:tab pos="756285" algn="l"/>
              </a:tabLst>
            </a:pP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predicted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probability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greater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than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7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Trebuchet MS"/>
                <a:cs typeface="Trebuchet MS"/>
              </a:rPr>
              <a:t>chosen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threshold 	</a:t>
            </a:r>
            <a:r>
              <a:rPr sz="1800" spc="110" dirty="0">
                <a:solidFill>
                  <a:srgbClr val="FFFFFF"/>
                </a:solidFill>
                <a:latin typeface="Trebuchet MS"/>
                <a:cs typeface="Trebuchet MS"/>
              </a:rPr>
              <a:t>(commonly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0.5),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predicts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FFFFFF"/>
                </a:solidFill>
                <a:latin typeface="Tahoma"/>
                <a:cs typeface="Tahoma"/>
              </a:rPr>
              <a:t>Survived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(1)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755650" lvl="1" indent="-285115">
              <a:lnSpc>
                <a:spcPts val="2100"/>
              </a:lnSpc>
              <a:buAutoNum type="arabicPeriod"/>
              <a:tabLst>
                <a:tab pos="75565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Otherwise,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predicts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Did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8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FFFFFF"/>
                </a:solidFill>
                <a:latin typeface="Tahoma"/>
                <a:cs typeface="Tahoma"/>
              </a:rPr>
              <a:t>survive</a:t>
            </a:r>
            <a:r>
              <a:rPr sz="18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(0)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100" dirty="0">
                <a:solidFill>
                  <a:srgbClr val="FFFFFF"/>
                </a:solidFill>
                <a:latin typeface="Tahoma"/>
                <a:cs typeface="Tahoma"/>
              </a:rPr>
              <a:t>Why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linear</a:t>
            </a:r>
            <a:r>
              <a:rPr sz="18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regression?</a:t>
            </a:r>
            <a:endParaRPr sz="1800">
              <a:latin typeface="Tahoma"/>
              <a:cs typeface="Tahoma"/>
            </a:endParaRPr>
          </a:p>
          <a:p>
            <a:pPr marL="12700" marR="226695">
              <a:lnSpc>
                <a:spcPts val="2100"/>
              </a:lnSpc>
              <a:spcBef>
                <a:spcPts val="14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Linear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regression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predicts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Trebuchet MS"/>
                <a:cs typeface="Trebuchet MS"/>
              </a:rPr>
              <a:t>any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number,</a:t>
            </a:r>
            <a:r>
              <a:rPr sz="180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Trebuchet MS"/>
                <a:cs typeface="Trebuchet MS"/>
              </a:rPr>
              <a:t>produce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impossible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like:</a:t>
            </a:r>
            <a:endParaRPr sz="1800">
              <a:latin typeface="Trebuchet MS"/>
              <a:cs typeface="Trebuchet MS"/>
            </a:endParaRPr>
          </a:p>
          <a:p>
            <a:pPr marL="92075" indent="-88900">
              <a:lnSpc>
                <a:spcPts val="2120"/>
              </a:lnSpc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spc="-130" dirty="0">
                <a:solidFill>
                  <a:srgbClr val="FFFFFF"/>
                </a:solidFill>
                <a:latin typeface="Tahoma"/>
                <a:cs typeface="Tahoma"/>
              </a:rPr>
              <a:t>1.4</a:t>
            </a:r>
            <a:r>
              <a:rPr sz="18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(greater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than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  <a:p>
            <a:pPr marL="92075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2075" algn="l"/>
              </a:tabLst>
            </a:pP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−0.3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(less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than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Trebuchet MS"/>
                <a:cs typeface="Trebuchet MS"/>
              </a:rPr>
              <a:t>cannot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represent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valid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probabilities.</a:t>
            </a:r>
            <a:endParaRPr sz="1800">
              <a:latin typeface="Trebuchet MS"/>
              <a:cs typeface="Trebuchet MS"/>
            </a:endParaRPr>
          </a:p>
          <a:p>
            <a:pPr marL="12700" marR="231775">
              <a:lnSpc>
                <a:spcPct val="99100"/>
              </a:lnSpc>
              <a:spcBef>
                <a:spcPts val="4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Logistic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regression,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sigmoid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function,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always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outputs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values </a:t>
            </a:r>
            <a:r>
              <a:rPr sz="1800" spc="130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55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8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800" b="1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6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800" spc="-16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Trebuchet MS"/>
                <a:cs typeface="Trebuchet MS"/>
              </a:rPr>
              <a:t>making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suitable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predicting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probabilities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binary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outcomes.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1" y="26669"/>
            <a:ext cx="4686300" cy="209550"/>
          </a:xfrm>
          <a:custGeom>
            <a:avLst/>
            <a:gdLst/>
            <a:ahLst/>
            <a:cxnLst/>
            <a:rect l="l" t="t" r="r" b="b"/>
            <a:pathLst>
              <a:path w="4686300" h="209550">
                <a:moveTo>
                  <a:pt x="4686300" y="0"/>
                </a:moveTo>
                <a:lnTo>
                  <a:pt x="0" y="0"/>
                </a:lnTo>
                <a:lnTo>
                  <a:pt x="0" y="209550"/>
                </a:lnTo>
                <a:lnTo>
                  <a:pt x="4686300" y="209550"/>
                </a:lnTo>
                <a:lnTo>
                  <a:pt x="46863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" y="3227069"/>
            <a:ext cx="4114800" cy="209550"/>
          </a:xfrm>
          <a:custGeom>
            <a:avLst/>
            <a:gdLst/>
            <a:ahLst/>
            <a:cxnLst/>
            <a:rect l="l" t="t" r="r" b="b"/>
            <a:pathLst>
              <a:path w="4114800" h="209550">
                <a:moveTo>
                  <a:pt x="4114800" y="0"/>
                </a:moveTo>
                <a:lnTo>
                  <a:pt x="4114800" y="0"/>
                </a:lnTo>
                <a:lnTo>
                  <a:pt x="0" y="0"/>
                </a:lnTo>
                <a:lnTo>
                  <a:pt x="0" y="209550"/>
                </a:lnTo>
                <a:lnTo>
                  <a:pt x="4114800" y="209550"/>
                </a:lnTo>
                <a:lnTo>
                  <a:pt x="4114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" y="5532120"/>
            <a:ext cx="3429000" cy="209550"/>
          </a:xfrm>
          <a:custGeom>
            <a:avLst/>
            <a:gdLst/>
            <a:ahLst/>
            <a:cxnLst/>
            <a:rect l="l" t="t" r="r" b="b"/>
            <a:pathLst>
              <a:path w="3429000" h="209550">
                <a:moveTo>
                  <a:pt x="3429000" y="0"/>
                </a:moveTo>
                <a:lnTo>
                  <a:pt x="3429000" y="0"/>
                </a:lnTo>
                <a:lnTo>
                  <a:pt x="0" y="0"/>
                </a:lnTo>
                <a:lnTo>
                  <a:pt x="0" y="209550"/>
                </a:lnTo>
                <a:lnTo>
                  <a:pt x="3429000" y="209550"/>
                </a:lnTo>
                <a:lnTo>
                  <a:pt x="3429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-24193"/>
            <a:ext cx="47250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Convert categorical column into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numeric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1" y="379095"/>
            <a:ext cx="56134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5"/>
              </a:lnSpc>
            </a:pPr>
            <a:r>
              <a:rPr sz="1500" dirty="0">
                <a:latin typeface="Courier New"/>
                <a:cs typeface="Courier New"/>
              </a:rPr>
              <a:t>X[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]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X[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'Sex'</a:t>
            </a:r>
            <a:r>
              <a:rPr sz="1500" dirty="0">
                <a:latin typeface="Courier New"/>
                <a:cs typeface="Courier New"/>
              </a:rPr>
              <a:t>].</a:t>
            </a:r>
            <a:r>
              <a:rPr sz="1500" dirty="0">
                <a:solidFill>
                  <a:srgbClr val="6A5220"/>
                </a:solidFill>
                <a:latin typeface="Courier New"/>
                <a:cs typeface="Courier New"/>
              </a:rPr>
              <a:t>map</a:t>
            </a:r>
            <a:r>
              <a:rPr sz="1500" dirty="0">
                <a:latin typeface="Courier New"/>
                <a:cs typeface="Courier New"/>
              </a:rPr>
              <a:t>({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'male'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'female'</a:t>
            </a:r>
            <a:r>
              <a:rPr sz="1500" dirty="0">
                <a:latin typeface="Courier New"/>
                <a:cs typeface="Courier New"/>
              </a:rPr>
              <a:t>: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1500" spc="-25" dirty="0">
                <a:latin typeface="Courier New"/>
                <a:cs typeface="Courier New"/>
              </a:rPr>
              <a:t>})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1" y="1093469"/>
            <a:ext cx="24130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Fill missing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values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1" y="1445894"/>
            <a:ext cx="45847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500" dirty="0">
                <a:latin typeface="Courier New"/>
                <a:cs typeface="Courier New"/>
              </a:rPr>
              <a:t>imputer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SimpleImputer(strategy=</a:t>
            </a:r>
            <a:r>
              <a:rPr sz="1500" spc="-10" dirty="0">
                <a:solidFill>
                  <a:srgbClr val="A21515"/>
                </a:solidFill>
                <a:latin typeface="Courier New"/>
                <a:cs typeface="Courier New"/>
              </a:rPr>
              <a:t>'mean'</a:t>
            </a:r>
            <a:r>
              <a:rPr sz="1500" spc="-1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1" y="1655445"/>
            <a:ext cx="32131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500" dirty="0">
                <a:latin typeface="Courier New"/>
                <a:cs typeface="Courier New"/>
              </a:rPr>
              <a:t>X =</a:t>
            </a:r>
            <a:r>
              <a:rPr sz="1500" spc="-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imputer.fit_transform(X)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1" y="2160270"/>
            <a:ext cx="49403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Split data into training and testing </a:t>
            </a:r>
            <a:r>
              <a:rPr sz="1500" spc="-20" dirty="0">
                <a:solidFill>
                  <a:srgbClr val="008000"/>
                </a:solidFill>
                <a:latin typeface="Courier New"/>
                <a:cs typeface="Courier New"/>
              </a:rPr>
              <a:t>sets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1" y="2512695"/>
            <a:ext cx="38989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dirty="0">
                <a:latin typeface="Courier New"/>
                <a:cs typeface="Courier New"/>
              </a:rPr>
              <a:t>X_train,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X_test,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y_train,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y_test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=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1" y="2865120"/>
            <a:ext cx="19558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500" spc="-10" dirty="0">
                <a:latin typeface="Courier New"/>
                <a:cs typeface="Courier New"/>
              </a:rPr>
              <a:t>train_test_split(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39" y="3180778"/>
            <a:ext cx="41192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urier New"/>
                <a:cs typeface="Courier New"/>
              </a:rPr>
              <a:t>X,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y,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test_size=</a:t>
            </a:r>
            <a:r>
              <a:rPr sz="1500" dirty="0">
                <a:solidFill>
                  <a:srgbClr val="116644"/>
                </a:solidFill>
                <a:latin typeface="Courier New"/>
                <a:cs typeface="Courier New"/>
              </a:rPr>
              <a:t>0.2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random_state=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42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1" y="3436620"/>
            <a:ext cx="1270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500" spc="-5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1" y="3931920"/>
            <a:ext cx="3911600" cy="198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Create Logistic Regression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model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1" y="4130066"/>
            <a:ext cx="4699000" cy="1924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500" dirty="0">
                <a:latin typeface="Courier New"/>
                <a:cs typeface="Courier New"/>
              </a:rPr>
              <a:t>model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0" dirty="0">
                <a:latin typeface="Courier New"/>
                <a:cs typeface="Courier New"/>
              </a:rPr>
              <a:t> LogisticRegression(max_iter=</a:t>
            </a:r>
            <a:r>
              <a:rPr sz="1500" spc="-10" dirty="0">
                <a:solidFill>
                  <a:srgbClr val="116644"/>
                </a:solidFill>
                <a:latin typeface="Courier New"/>
                <a:cs typeface="Courier New"/>
              </a:rPr>
              <a:t>1000</a:t>
            </a:r>
            <a:r>
              <a:rPr sz="1500" spc="-10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1" y="4646295"/>
            <a:ext cx="14986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Train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model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1" y="4855845"/>
            <a:ext cx="30988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0"/>
              </a:lnSpc>
            </a:pPr>
            <a:r>
              <a:rPr sz="1500" dirty="0">
                <a:latin typeface="Courier New"/>
                <a:cs typeface="Courier New"/>
              </a:rPr>
              <a:t>model.fit(X_train,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y_train)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1" y="5360670"/>
            <a:ext cx="252730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0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Predict on test </a:t>
            </a:r>
            <a:r>
              <a:rPr sz="1500" spc="-20" dirty="0">
                <a:solidFill>
                  <a:srgbClr val="008000"/>
                </a:solidFill>
                <a:latin typeface="Courier New"/>
                <a:cs typeface="Courier New"/>
              </a:rPr>
              <a:t>data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1" y="5532120"/>
            <a:ext cx="344170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0"/>
              </a:lnSpc>
            </a:pPr>
            <a:r>
              <a:rPr sz="1500" dirty="0">
                <a:latin typeface="Courier New"/>
                <a:cs typeface="Courier New"/>
              </a:rPr>
              <a:t>y_pred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= </a:t>
            </a:r>
            <a:r>
              <a:rPr sz="1500" spc="-10" dirty="0">
                <a:latin typeface="Courier New"/>
                <a:cs typeface="Courier New"/>
              </a:rPr>
              <a:t>model.predict(X_test)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1" y="6065520"/>
            <a:ext cx="2070100" cy="2095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0"/>
              </a:lnSpc>
            </a:pPr>
            <a:r>
              <a:rPr sz="1500" dirty="0">
                <a:solidFill>
                  <a:srgbClr val="008000"/>
                </a:solidFill>
                <a:latin typeface="Courier New"/>
                <a:cs typeface="Courier New"/>
              </a:rPr>
              <a:t># Model </a:t>
            </a:r>
            <a:r>
              <a:rPr sz="1500" spc="-10" dirty="0">
                <a:solidFill>
                  <a:srgbClr val="008000"/>
                </a:solidFill>
                <a:latin typeface="Courier New"/>
                <a:cs typeface="Courier New"/>
              </a:rPr>
              <a:t>Evaluation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1" y="6275070"/>
            <a:ext cx="5956300" cy="1809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5"/>
              </a:lnSpc>
            </a:pPr>
            <a:r>
              <a:rPr sz="15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1500" dirty="0">
                <a:latin typeface="Courier New"/>
                <a:cs typeface="Courier New"/>
              </a:rPr>
              <a:t>(</a:t>
            </a:r>
            <a:r>
              <a:rPr sz="1500" dirty="0">
                <a:solidFill>
                  <a:srgbClr val="A21515"/>
                </a:solidFill>
                <a:latin typeface="Courier New"/>
                <a:cs typeface="Courier New"/>
              </a:rPr>
              <a:t>"\nAccuracy:"</a:t>
            </a:r>
            <a:r>
              <a:rPr sz="1500" dirty="0">
                <a:latin typeface="Courier New"/>
                <a:cs typeface="Courier New"/>
              </a:rPr>
              <a:t>,</a:t>
            </a:r>
            <a:r>
              <a:rPr sz="1500" spc="-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accuracy_score(y_test,</a:t>
            </a:r>
            <a:r>
              <a:rPr sz="1500" spc="-4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y_pred))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" y="2003551"/>
            <a:ext cx="5486400" cy="466725"/>
          </a:xfrm>
          <a:custGeom>
            <a:avLst/>
            <a:gdLst/>
            <a:ahLst/>
            <a:cxnLst/>
            <a:rect l="l" t="t" r="r" b="b"/>
            <a:pathLst>
              <a:path w="5486400" h="466725">
                <a:moveTo>
                  <a:pt x="5486400" y="0"/>
                </a:moveTo>
                <a:lnTo>
                  <a:pt x="5486400" y="0"/>
                </a:lnTo>
                <a:lnTo>
                  <a:pt x="0" y="0"/>
                </a:lnTo>
                <a:lnTo>
                  <a:pt x="0" y="180975"/>
                </a:lnTo>
                <a:lnTo>
                  <a:pt x="0" y="285750"/>
                </a:lnTo>
                <a:lnTo>
                  <a:pt x="0" y="466725"/>
                </a:lnTo>
                <a:lnTo>
                  <a:pt x="914400" y="466725"/>
                </a:lnTo>
                <a:lnTo>
                  <a:pt x="1219200" y="466725"/>
                </a:lnTo>
                <a:lnTo>
                  <a:pt x="1219200" y="285750"/>
                </a:lnTo>
                <a:lnTo>
                  <a:pt x="4114800" y="285750"/>
                </a:lnTo>
                <a:lnTo>
                  <a:pt x="4267200" y="285750"/>
                </a:lnTo>
                <a:lnTo>
                  <a:pt x="5181600" y="285750"/>
                </a:lnTo>
                <a:lnTo>
                  <a:pt x="5486400" y="285750"/>
                </a:lnTo>
                <a:lnTo>
                  <a:pt x="5486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39" y="765301"/>
            <a:ext cx="42799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0"/>
              </a:lnSpc>
            </a:pPr>
            <a:r>
              <a:rPr sz="20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"\nConfusion</a:t>
            </a:r>
            <a:r>
              <a:rPr sz="2000" spc="-80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21515"/>
                </a:solidFill>
                <a:latin typeface="Courier New"/>
                <a:cs typeface="Courier New"/>
              </a:rPr>
              <a:t>Matrix:"</a:t>
            </a:r>
            <a:r>
              <a:rPr sz="2000" spc="-1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1117727"/>
            <a:ext cx="59563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latin typeface="Courier New"/>
                <a:cs typeface="Courier New"/>
              </a:rPr>
              <a:t>(confusion_matrix(y_test,</a:t>
            </a:r>
            <a:r>
              <a:rPr sz="2000" spc="-1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y_pred))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1651126"/>
            <a:ext cx="50419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"\nClassification</a:t>
            </a:r>
            <a:r>
              <a:rPr sz="2000" spc="-204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21515"/>
                </a:solidFill>
                <a:latin typeface="Courier New"/>
                <a:cs typeface="Courier New"/>
              </a:rPr>
              <a:t>Report:"</a:t>
            </a:r>
            <a:r>
              <a:rPr sz="2000" spc="-1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1945957"/>
            <a:ext cx="54864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spc="-10" dirty="0">
                <a:latin typeface="Courier New"/>
                <a:cs typeface="Courier New"/>
              </a:rPr>
              <a:t>(classification_report(y_test,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2127313"/>
            <a:ext cx="12230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ourier New"/>
                <a:cs typeface="Courier New"/>
              </a:rPr>
              <a:t>y_pred))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39" y="2898901"/>
            <a:ext cx="38227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20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Predict</a:t>
            </a:r>
            <a:r>
              <a:rPr sz="20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20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new</a:t>
            </a:r>
            <a:r>
              <a:rPr sz="2000" spc="-10" dirty="0">
                <a:solidFill>
                  <a:srgbClr val="008000"/>
                </a:solidFill>
                <a:latin typeface="Courier New"/>
                <a:cs typeface="Courier New"/>
              </a:rPr>
              <a:t> passenger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39" y="3251327"/>
            <a:ext cx="61087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5"/>
              </a:lnSpc>
            </a:pPr>
            <a:r>
              <a:rPr sz="2000" dirty="0">
                <a:latin typeface="Courier New"/>
                <a:cs typeface="Courier New"/>
              </a:rPr>
              <a:t>new_passenger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[[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3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22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16644"/>
                </a:solidFill>
                <a:latin typeface="Courier New"/>
                <a:cs typeface="Courier New"/>
              </a:rPr>
              <a:t>7.25</a:t>
            </a:r>
            <a:r>
              <a:rPr sz="2000" spc="-10" dirty="0">
                <a:latin typeface="Courier New"/>
                <a:cs typeface="Courier New"/>
              </a:rPr>
              <a:t>]]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39" y="3603752"/>
            <a:ext cx="58039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2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Pclass,</a:t>
            </a:r>
            <a:r>
              <a:rPr sz="2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Sex,</a:t>
            </a:r>
            <a:r>
              <a:rPr sz="2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Age,</a:t>
            </a:r>
            <a:r>
              <a:rPr sz="2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SibSp,</a:t>
            </a:r>
            <a:r>
              <a:rPr sz="2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8000"/>
                </a:solidFill>
                <a:latin typeface="Courier New"/>
                <a:cs typeface="Courier New"/>
              </a:rPr>
              <a:t>Parch,</a:t>
            </a:r>
            <a:r>
              <a:rPr sz="2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8000"/>
                </a:solidFill>
                <a:latin typeface="Courier New"/>
                <a:cs typeface="Courier New"/>
              </a:rPr>
              <a:t>Fare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39" y="4137152"/>
            <a:ext cx="62611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2000" dirty="0">
                <a:latin typeface="Courier New"/>
                <a:cs typeface="Courier New"/>
              </a:rPr>
              <a:t>prediction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model.predict(new_passenger)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39" y="4670552"/>
            <a:ext cx="33655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5"/>
              </a:lnSpc>
            </a:pPr>
            <a:r>
              <a:rPr sz="2000" dirty="0">
                <a:solidFill>
                  <a:srgbClr val="9622B4"/>
                </a:solidFill>
                <a:latin typeface="Courier New"/>
                <a:cs typeface="Courier New"/>
              </a:rPr>
              <a:t>if</a:t>
            </a:r>
            <a:r>
              <a:rPr sz="2000" spc="-35" dirty="0">
                <a:solidFill>
                  <a:srgbClr val="9622B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prediction[</a:t>
            </a:r>
            <a:r>
              <a:rPr sz="2000" dirty="0">
                <a:solidFill>
                  <a:srgbClr val="116644"/>
                </a:solidFill>
                <a:latin typeface="Courier New"/>
                <a:cs typeface="Courier New"/>
              </a:rPr>
              <a:t>0</a:t>
            </a:r>
            <a:r>
              <a:rPr sz="2000" dirty="0">
                <a:latin typeface="Courier New"/>
                <a:cs typeface="Courier New"/>
              </a:rPr>
              <a:t>]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==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116644"/>
                </a:solidFill>
                <a:latin typeface="Courier New"/>
                <a:cs typeface="Courier New"/>
              </a:rPr>
              <a:t>1</a:t>
            </a:r>
            <a:r>
              <a:rPr sz="2000" spc="-25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39" y="5032502"/>
            <a:ext cx="51943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10235">
              <a:lnSpc>
                <a:spcPts val="2105"/>
              </a:lnSpc>
            </a:pPr>
            <a:r>
              <a:rPr sz="20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"\nPrediction:</a:t>
            </a:r>
            <a:r>
              <a:rPr sz="2000" spc="-9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A21515"/>
                </a:solidFill>
                <a:latin typeface="Courier New"/>
                <a:cs typeface="Courier New"/>
              </a:rPr>
              <a:t>Passenger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39" y="5384901"/>
            <a:ext cx="16891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ts val="2110"/>
              </a:lnSpc>
            </a:pPr>
            <a:r>
              <a:rPr sz="2000" spc="-10" dirty="0">
                <a:solidFill>
                  <a:srgbClr val="A21515"/>
                </a:solidFill>
                <a:latin typeface="Courier New"/>
                <a:cs typeface="Courier New"/>
              </a:rPr>
              <a:t>Survived"</a:t>
            </a:r>
            <a:r>
              <a:rPr sz="2000" spc="-1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39" y="5737326"/>
            <a:ext cx="7747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5"/>
              </a:lnSpc>
            </a:pPr>
            <a:r>
              <a:rPr sz="2000" spc="-10" dirty="0">
                <a:solidFill>
                  <a:srgbClr val="9622B4"/>
                </a:solidFill>
                <a:latin typeface="Courier New"/>
                <a:cs typeface="Courier New"/>
              </a:rPr>
              <a:t>else</a:t>
            </a:r>
            <a:r>
              <a:rPr sz="2000" spc="-1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39" y="6099276"/>
            <a:ext cx="64135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10235">
              <a:lnSpc>
                <a:spcPts val="2120"/>
              </a:lnSpc>
            </a:pPr>
            <a:r>
              <a:rPr sz="2000" dirty="0">
                <a:solidFill>
                  <a:srgbClr val="6A5220"/>
                </a:solidFill>
                <a:latin typeface="Courier New"/>
                <a:cs typeface="Courier New"/>
              </a:rPr>
              <a:t>print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"\nPrediction:</a:t>
            </a:r>
            <a:r>
              <a:rPr sz="2000" spc="-6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Passenger</a:t>
            </a:r>
            <a:r>
              <a:rPr sz="2000" spc="-6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A21515"/>
                </a:solidFill>
                <a:latin typeface="Courier New"/>
                <a:cs typeface="Courier New"/>
              </a:rPr>
              <a:t>Did</a:t>
            </a:r>
            <a:r>
              <a:rPr sz="2000" spc="-65" dirty="0">
                <a:solidFill>
                  <a:srgbClr val="A21515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A21515"/>
                </a:solidFill>
                <a:latin typeface="Courier New"/>
                <a:cs typeface="Courier New"/>
              </a:rPr>
              <a:t>Not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39" y="6451704"/>
            <a:ext cx="1536700" cy="2857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ts val="2120"/>
              </a:lnSpc>
            </a:pPr>
            <a:r>
              <a:rPr sz="2000" spc="-10" dirty="0">
                <a:solidFill>
                  <a:srgbClr val="A21515"/>
                </a:solidFill>
                <a:latin typeface="Courier New"/>
                <a:cs typeface="Courier New"/>
              </a:rPr>
              <a:t>Survive"</a:t>
            </a:r>
            <a:r>
              <a:rPr sz="2000" spc="-10" dirty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OUTPUT</a:t>
            </a:r>
            <a:r>
              <a:rPr spc="-200" dirty="0"/>
              <a:t> </a:t>
            </a:r>
            <a:r>
              <a:rPr spc="325" dirty="0"/>
              <a:t>OF</a:t>
            </a:r>
            <a:r>
              <a:rPr spc="-120" dirty="0"/>
              <a:t> </a:t>
            </a:r>
            <a:r>
              <a:rPr spc="-204" dirty="0"/>
              <a:t>THE</a:t>
            </a:r>
            <a:r>
              <a:rPr spc="-150" dirty="0"/>
              <a:t> </a:t>
            </a:r>
            <a:r>
              <a:rPr spc="54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2057400"/>
            <a:ext cx="61531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OUTPUT</a:t>
            </a:r>
            <a:r>
              <a:rPr spc="-180" dirty="0"/>
              <a:t> </a:t>
            </a:r>
            <a:r>
              <a:rPr spc="325" dirty="0"/>
              <a:t>OF</a:t>
            </a:r>
            <a:r>
              <a:rPr spc="-114" dirty="0"/>
              <a:t> </a:t>
            </a:r>
            <a:r>
              <a:rPr spc="-204" dirty="0"/>
              <a:t>THE</a:t>
            </a:r>
            <a:r>
              <a:rPr spc="-150" dirty="0"/>
              <a:t> </a:t>
            </a:r>
            <a:r>
              <a:rPr spc="560" dirty="0"/>
              <a:t>CODE</a:t>
            </a:r>
            <a:r>
              <a:rPr spc="-100" dirty="0"/>
              <a:t> </a:t>
            </a:r>
            <a:r>
              <a:rPr spc="-434" dirty="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057400"/>
            <a:ext cx="62865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153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05"/>
              </a:spcBef>
            </a:pPr>
            <a:r>
              <a:rPr spc="375" dirty="0"/>
              <a:t>CONCLUSION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7730" y="3283512"/>
          <a:ext cx="5759449" cy="1735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3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</a:pPr>
                      <a:r>
                        <a:rPr sz="1800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Metric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11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Logistic</a:t>
                      </a:r>
                      <a:r>
                        <a:rPr sz="1800" spc="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Regression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110"/>
                        </a:lnSpc>
                      </a:pPr>
                      <a:r>
                        <a:rPr sz="1800" spc="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KNN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(k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80.45%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81.56%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Precision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79.31%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80.00%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Recall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66.67%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69.57%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marL="31750">
                        <a:lnSpc>
                          <a:spcPts val="2095"/>
                        </a:lnSpc>
                        <a:spcBef>
                          <a:spcPts val="335"/>
                        </a:spcBef>
                      </a:pPr>
                      <a:r>
                        <a:rPr sz="1800" b="1" spc="-1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F1-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Score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095"/>
                        </a:lnSpc>
                        <a:spcBef>
                          <a:spcPts val="335"/>
                        </a:spcBef>
                      </a:pPr>
                      <a:r>
                        <a:rPr sz="1800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72.44%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095"/>
                        </a:lnSpc>
                        <a:spcBef>
                          <a:spcPts val="33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74.42%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6780" y="1507553"/>
            <a:ext cx="6320790" cy="16833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Trebuchet MS"/>
                <a:cs typeface="Trebuchet MS"/>
              </a:rPr>
              <a:t>uploaded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FFFFFF"/>
                </a:solidFill>
                <a:latin typeface="Tahoma"/>
                <a:cs typeface="Tahoma"/>
              </a:rPr>
              <a:t>Titanic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compared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Logistic </a:t>
            </a:r>
            <a:r>
              <a:rPr sz="1800" b="1" spc="-70" dirty="0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K-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Nearest</a:t>
            </a:r>
            <a:r>
              <a:rPr sz="18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Neighbors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(KNN)</a:t>
            </a: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85" dirty="0">
                <a:solidFill>
                  <a:srgbClr val="FFFFFF"/>
                </a:solidFill>
                <a:latin typeface="Trebuchet MS"/>
                <a:cs typeface="Trebuchet MS"/>
              </a:rPr>
              <a:t>an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80/20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train-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split.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imputed,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Trebuchet MS"/>
                <a:cs typeface="Trebuchet MS"/>
              </a:rPr>
              <a:t>one-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hot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Trebuchet MS"/>
                <a:cs typeface="Trebuchet MS"/>
              </a:rPr>
              <a:t>encoded,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numerical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r>
              <a:rPr sz="18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standardized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rebuchet MS"/>
                <a:cs typeface="Trebuchet MS"/>
              </a:rPr>
              <a:t>before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training.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8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Comparison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5314950"/>
            <a:ext cx="595312" cy="4810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2375" y="5591175"/>
            <a:ext cx="595312" cy="4810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6780" y="5095557"/>
            <a:ext cx="8130540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Titanic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dataset:</a:t>
            </a:r>
            <a:endParaRPr sz="1800">
              <a:latin typeface="Trebuchet MS"/>
              <a:cs typeface="Trebuchet MS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SzPct val="94444"/>
              <a:buFont typeface="Arial MT"/>
              <a:buChar char="•"/>
              <a:tabLst>
                <a:tab pos="91440" algn="l"/>
                <a:tab pos="2211705" algn="l"/>
              </a:tabLst>
            </a:pPr>
            <a:r>
              <a:rPr sz="1800" b="1" spc="-120" dirty="0">
                <a:solidFill>
                  <a:srgbClr val="FFFFFF"/>
                </a:solidFill>
                <a:latin typeface="Tahoma"/>
                <a:cs typeface="Tahoma"/>
              </a:rPr>
              <a:t>Best</a:t>
            </a:r>
            <a:r>
              <a:rPr sz="1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Accuracy: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800" b="1" spc="-85" dirty="0">
                <a:solidFill>
                  <a:srgbClr val="FFFFFF"/>
                </a:solidFill>
                <a:latin typeface="Tahoma"/>
                <a:cs typeface="Tahoma"/>
              </a:rPr>
              <a:t>KNN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FFFFFF"/>
                </a:solidFill>
                <a:latin typeface="Tahoma"/>
                <a:cs typeface="Tahoma"/>
              </a:rPr>
              <a:t>(81.56%)</a:t>
            </a:r>
            <a:endParaRPr sz="1800">
              <a:latin typeface="Tahoma"/>
              <a:cs typeface="Tahoma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SzPct val="94444"/>
              <a:buFont typeface="Arial MT"/>
              <a:buChar char="•"/>
              <a:tabLst>
                <a:tab pos="91440" algn="l"/>
                <a:tab pos="3381375" algn="l"/>
              </a:tabLst>
            </a:pPr>
            <a:r>
              <a:rPr sz="1800" b="1" spc="-80" dirty="0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r>
              <a:rPr sz="18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FFFFFF"/>
                </a:solidFill>
                <a:latin typeface="Tahoma"/>
                <a:cs typeface="Tahoma"/>
              </a:rPr>
              <a:t>Interpretable</a:t>
            </a: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Model: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800" b="1" spc="-65" dirty="0">
                <a:solidFill>
                  <a:srgbClr val="FFFFFF"/>
                </a:solidFill>
                <a:latin typeface="Tahoma"/>
                <a:cs typeface="Tahoma"/>
              </a:rPr>
              <a:t>Logistic</a:t>
            </a:r>
            <a:r>
              <a:rPr sz="18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endParaRPr sz="1800">
              <a:latin typeface="Tahoma"/>
              <a:cs typeface="Tahoma"/>
            </a:endParaRPr>
          </a:p>
          <a:p>
            <a:pPr marL="12700" marR="5080" indent="-10160">
              <a:lnSpc>
                <a:spcPct val="99100"/>
              </a:lnSpc>
              <a:spcBef>
                <a:spcPts val="4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	Recommendation:</a:t>
            </a:r>
            <a:r>
              <a:rPr sz="18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Although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rebuchet MS"/>
                <a:cs typeface="Trebuchet MS"/>
              </a:rPr>
              <a:t>KNN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performs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marginally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better,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Logistic 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Regression</a:t>
            </a:r>
            <a:r>
              <a:rPr sz="18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remains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excellent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baseline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because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simpler,</a:t>
            </a:r>
            <a:r>
              <a:rPr sz="18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faster,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easier</a:t>
            </a:r>
            <a:r>
              <a:rPr sz="180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80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explain.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2252</Words>
  <Application>Microsoft Office PowerPoint</Application>
  <PresentationFormat>On-screen Show (4:3)</PresentationFormat>
  <Paragraphs>247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 MT</vt:lpstr>
      <vt:lpstr>Calibri</vt:lpstr>
      <vt:lpstr>Courier New</vt:lpstr>
      <vt:lpstr>Lucida Sans Unicode</vt:lpstr>
      <vt:lpstr>Tahoma</vt:lpstr>
      <vt:lpstr>Trebuchet MS</vt:lpstr>
      <vt:lpstr>Office Theme</vt:lpstr>
      <vt:lpstr>PowerPoint Presentation</vt:lpstr>
      <vt:lpstr>Learning &amp; Training Program</vt:lpstr>
      <vt:lpstr>Course Overview</vt:lpstr>
      <vt:lpstr>Basics of Python</vt:lpstr>
      <vt:lpstr>Tools</vt:lpstr>
      <vt:lpstr>NumPy Library</vt:lpstr>
      <vt:lpstr>Pandas Library</vt:lpstr>
      <vt:lpstr>Main Topic: To Analize The Death And Survive Ratio By Python</vt:lpstr>
      <vt:lpstr>KNN</vt:lpstr>
      <vt:lpstr>How KNN Works</vt:lpstr>
      <vt:lpstr>Pros and Cons</vt:lpstr>
      <vt:lpstr>How KNN Works on the Titanic Dataset</vt:lpstr>
      <vt:lpstr>Steps include</vt:lpstr>
      <vt:lpstr>CODE FOR CNN</vt:lpstr>
      <vt:lpstr>PowerPoint Presentation</vt:lpstr>
      <vt:lpstr>PowerPoint Presentation</vt:lpstr>
      <vt:lpstr>OUTPUT OF THE CODE :</vt:lpstr>
      <vt:lpstr>CODE FOR LOGISTIC REGRATION</vt:lpstr>
      <vt:lpstr>LOGISTIC REGRATION</vt:lpstr>
      <vt:lpstr>PowerPoint Presentation</vt:lpstr>
      <vt:lpstr>PowerPoint Presentation</vt:lpstr>
      <vt:lpstr>PowerPoint Presentation</vt:lpstr>
      <vt:lpstr>OUTPUT OF THE CODE</vt:lpstr>
      <vt:lpstr>OUTPUT OF THE CODE :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Anshuman Yadav</dc:creator>
  <cp:lastModifiedBy>Anshuman Yadav</cp:lastModifiedBy>
  <cp:revision>2</cp:revision>
  <dcterms:created xsi:type="dcterms:W3CDTF">2026-07-27T05:42:42Z</dcterms:created>
  <dcterms:modified xsi:type="dcterms:W3CDTF">2026-07-27T05:48:07Z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LastSaved">
    <vt:filetime>2026-07-27T00:00:00Z</vt:filetime>
  </property>
</Properties>
</file>